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59"/>
  </p:notesMasterIdLst>
  <p:handoutMasterIdLst>
    <p:handoutMasterId r:id="rId60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63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61" r:id="rId54"/>
    <p:sldId id="360" r:id="rId55"/>
    <p:sldId id="359" r:id="rId56"/>
    <p:sldId id="362" r:id="rId57"/>
    <p:sldId id="297" r:id="rId5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388" autoAdjust="0"/>
  </p:normalViewPr>
  <p:slideViewPr>
    <p:cSldViewPr snapToGrid="0" snapToObjects="1">
      <p:cViewPr varScale="1">
        <p:scale>
          <a:sx n="71" d="100"/>
          <a:sy n="71" d="100"/>
        </p:scale>
        <p:origin x="1214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mailto:fathimanihala200214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dirty="0"/>
              <a:t>React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6583680" cy="771526"/>
          </a:xfrm>
        </p:spPr>
        <p:txBody>
          <a:bodyPr/>
          <a:lstStyle/>
          <a:p>
            <a:r>
              <a:rPr lang="en-IN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7892"/>
            <a:ext cx="6583680" cy="4084092"/>
          </a:xfrm>
        </p:spPr>
        <p:txBody>
          <a:bodyPr>
            <a:normAutofit/>
          </a:bodyPr>
          <a:lstStyle/>
          <a:p>
            <a:r>
              <a:rPr lang="en-US" dirty="0"/>
              <a:t>React is a </a:t>
            </a:r>
            <a:r>
              <a:rPr lang="en-US" b="1" dirty="0"/>
              <a:t>JavaScript library</a:t>
            </a:r>
            <a:r>
              <a:rPr lang="en-US" dirty="0"/>
              <a:t> for building dynamic user interfaces. With modern tools like </a:t>
            </a:r>
            <a:r>
              <a:rPr lang="en-US" b="1" dirty="0"/>
              <a:t>Vite</a:t>
            </a:r>
            <a:r>
              <a:rPr lang="en-US" dirty="0"/>
              <a:t>, development becomes faster and more efficient compared to the traditional </a:t>
            </a:r>
            <a:r>
              <a:rPr lang="en-US" b="1" dirty="0"/>
              <a:t>Create React App (CRA)</a:t>
            </a:r>
            <a:r>
              <a:rPr lang="en-US" dirty="0"/>
              <a:t> setup.</a:t>
            </a:r>
            <a:br>
              <a:rPr lang="en-US" dirty="0"/>
            </a:br>
            <a:br>
              <a:rPr lang="en-US" dirty="0"/>
            </a:br>
            <a:r>
              <a:rPr lang="en-US" sz="1800" b="0" i="0" dirty="0">
                <a:effectLst/>
                <a:latin typeface="Calibri" panose="020F0502020204030204" pitchFamily="34" charset="0"/>
              </a:rPr>
              <a:t>developed by </a:t>
            </a:r>
            <a:r>
              <a:rPr lang="en-US" sz="1800" b="0" i="0" dirty="0" err="1">
                <a:effectLst/>
                <a:latin typeface="Calibri" panose="020F0502020204030204" pitchFamily="34" charset="0"/>
              </a:rPr>
              <a:t>facebook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. </a:t>
            </a:r>
          </a:p>
          <a:p>
            <a:r>
              <a:rPr lang="en-US" sz="1800" dirty="0">
                <a:latin typeface="Calibri" panose="020F0502020204030204" pitchFamily="34" charset="0"/>
              </a:rPr>
              <a:t>Open source.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IN" dirty="0"/>
              <a:t>Features of React.js</a:t>
            </a:r>
            <a:endParaRPr lang="en-US" dirty="0"/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80" y="441064"/>
            <a:ext cx="11435378" cy="6416936"/>
          </a:xfrm>
        </p:spPr>
        <p:txBody>
          <a:bodyPr/>
          <a:lstStyle/>
          <a:p>
            <a:r>
              <a:rPr lang="en-IN" dirty="0"/>
              <a:t>1.Reusable Components</a:t>
            </a:r>
          </a:p>
          <a:p>
            <a:r>
              <a:rPr lang="en-US" sz="1600" dirty="0"/>
              <a:t>React apps are made up of </a:t>
            </a:r>
            <a:r>
              <a:rPr lang="en-US" sz="1600" b="1" dirty="0"/>
              <a:t>components</a:t>
            </a:r>
            <a:r>
              <a:rPr lang="en-US" sz="1600" dirty="0"/>
              <a:t> — small, self-contained pieces of UI (like buttons, forms, or cards).</a:t>
            </a:r>
          </a:p>
          <a:p>
            <a:r>
              <a:rPr lang="en-US" sz="1600" dirty="0" err="1"/>
              <a:t>Eg</a:t>
            </a:r>
            <a:r>
              <a:rPr lang="en-US" sz="1600" dirty="0"/>
              <a:t>:  A button components used in  multiple places with     different text or styles.</a:t>
            </a:r>
          </a:p>
          <a:p>
            <a:endParaRPr lang="en-US" sz="1600" dirty="0"/>
          </a:p>
          <a:p>
            <a:r>
              <a:rPr lang="en-US" dirty="0"/>
              <a:t>2.</a:t>
            </a:r>
            <a:r>
              <a:rPr lang="en-IN" dirty="0"/>
              <a:t> Fast Performance (Virtual DOM)</a:t>
            </a:r>
          </a:p>
          <a:p>
            <a:r>
              <a:rPr lang="en-US" sz="1600" dirty="0"/>
              <a:t>A lightweight copy of the real DOM. (updates </a:t>
            </a:r>
            <a:r>
              <a:rPr lang="en-US" sz="1600" b="1" dirty="0"/>
              <a:t>only the changed parts</a:t>
            </a:r>
            <a:r>
              <a:rPr lang="en-US" sz="1600" dirty="0"/>
              <a:t> of the actual DOM.)</a:t>
            </a:r>
          </a:p>
          <a:p>
            <a:endParaRPr lang="en-US" sz="1600" dirty="0"/>
          </a:p>
          <a:p>
            <a:r>
              <a:rPr lang="en-US" dirty="0"/>
              <a:t>3.</a:t>
            </a:r>
            <a:r>
              <a:rPr lang="en-IN" dirty="0"/>
              <a:t> Rich Ecosystem</a:t>
            </a:r>
          </a:p>
          <a:p>
            <a:r>
              <a:rPr lang="en-US" sz="1600" dirty="0"/>
              <a:t>React has a huge ecosystem of third-party libraries that make development easier and faster: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React Router</a:t>
            </a:r>
            <a:r>
              <a:rPr lang="en-US" sz="1600" dirty="0"/>
              <a:t>: For routing and navigation.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Redux </a:t>
            </a:r>
            <a:r>
              <a:rPr lang="en-US" sz="1600" dirty="0"/>
              <a:t>: For state management.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Axios / Fetch</a:t>
            </a:r>
            <a:r>
              <a:rPr lang="en-US" sz="1600" dirty="0"/>
              <a:t>: For API calls.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MUI / Tailwind</a:t>
            </a:r>
            <a:r>
              <a:rPr lang="en-US" sz="1600" dirty="0"/>
              <a:t>: For styling and UI.</a:t>
            </a:r>
          </a:p>
          <a:p>
            <a:endParaRPr lang="en-US" sz="1600" dirty="0"/>
          </a:p>
          <a:p>
            <a:r>
              <a:rPr lang="en-US" dirty="0"/>
              <a:t>4. Hooks API for Functional Logic</a:t>
            </a:r>
          </a:p>
          <a:p>
            <a:r>
              <a:rPr lang="en-US" sz="1600" b="1" dirty="0"/>
              <a:t>Hooks</a:t>
            </a:r>
            <a:r>
              <a:rPr lang="en-US" sz="1600" dirty="0"/>
              <a:t> let you use state and other React features inside </a:t>
            </a:r>
            <a:r>
              <a:rPr lang="en-US" sz="1600" b="1" dirty="0"/>
              <a:t>functional components</a:t>
            </a:r>
          </a:p>
          <a:p>
            <a:r>
              <a:rPr lang="en-US" sz="1600" b="1" dirty="0" err="1"/>
              <a:t>Eg</a:t>
            </a:r>
            <a:r>
              <a:rPr lang="en-US" sz="1600" b="1" dirty="0"/>
              <a:t>: </a:t>
            </a:r>
            <a:r>
              <a:rPr lang="en-US" sz="1600" b="1" dirty="0" err="1"/>
              <a:t>useState</a:t>
            </a:r>
            <a:r>
              <a:rPr lang="en-US" sz="1600" b="1" dirty="0"/>
              <a:t>, </a:t>
            </a:r>
            <a:r>
              <a:rPr lang="en-US" sz="1600" b="1" dirty="0" err="1"/>
              <a:t>useEffect</a:t>
            </a:r>
            <a:r>
              <a:rPr lang="en-US" sz="1600" b="1" dirty="0"/>
              <a:t>, </a:t>
            </a:r>
            <a:r>
              <a:rPr lang="en-US" sz="1600" b="1" dirty="0" err="1"/>
              <a:t>useContext</a:t>
            </a:r>
            <a:r>
              <a:rPr lang="en-US" sz="1600" b="1" dirty="0"/>
              <a:t>.	</a:t>
            </a:r>
          </a:p>
          <a:p>
            <a:endParaRPr lang="en-US" sz="1600" dirty="0"/>
          </a:p>
          <a:p>
            <a:r>
              <a:rPr lang="en-US" dirty="0"/>
              <a:t>5.</a:t>
            </a:r>
            <a:r>
              <a:rPr lang="en-IN" dirty="0"/>
              <a:t> Declarative and Component-Based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React is </a:t>
            </a:r>
            <a:r>
              <a:rPr lang="en-IN" sz="1600" b="1" dirty="0"/>
              <a:t>declarative : </a:t>
            </a:r>
            <a:r>
              <a:rPr lang="en-US" sz="1600" dirty="0"/>
              <a:t>you describe </a:t>
            </a:r>
            <a:r>
              <a:rPr lang="en-US" sz="1600" b="1" dirty="0"/>
              <a:t>what</a:t>
            </a:r>
            <a:r>
              <a:rPr lang="en-US" sz="1600" dirty="0"/>
              <a:t> you want the UI to look like, and React takes care of </a:t>
            </a:r>
            <a:r>
              <a:rPr lang="en-US" sz="1600" b="1" dirty="0"/>
              <a:t>how</a:t>
            </a:r>
            <a:r>
              <a:rPr lang="en-US" sz="1600" dirty="0"/>
              <a:t> to update the 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Everything is built using components ( like small building blocks )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dirty="0"/>
              <a:t>6. Single page Application (SPA)</a:t>
            </a:r>
          </a:p>
          <a:p>
            <a:endParaRPr lang="en-US" sz="1600" dirty="0"/>
          </a:p>
          <a:p>
            <a:endParaRPr lang="en-IN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INSTALLATION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979437"/>
          </a:xfrm>
        </p:spPr>
        <p:txBody>
          <a:bodyPr>
            <a:normAutofit/>
          </a:bodyPr>
          <a:lstStyle/>
          <a:p>
            <a:r>
              <a:rPr lang="en-US" dirty="0"/>
              <a:t>Step 1: Install Node.js and </a:t>
            </a:r>
            <a:r>
              <a:rPr lang="en-US" dirty="0" err="1"/>
              <a:t>npm</a:t>
            </a:r>
            <a:r>
              <a:rPr lang="en-US" dirty="0"/>
              <a:t> ( </a:t>
            </a:r>
            <a:r>
              <a:rPr lang="en-IN" dirty="0">
                <a:hlinkClick r:id="rId3"/>
              </a:rPr>
              <a:t>https://nodejs.org</a:t>
            </a: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/>
              <a:t> Node.js Version Check:</a:t>
            </a:r>
            <a:r>
              <a:rPr lang="en-US" dirty="0"/>
              <a:t> node -v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/>
              <a:t> </a:t>
            </a:r>
            <a:r>
              <a:rPr lang="en-IN" dirty="0" err="1"/>
              <a:t>npm</a:t>
            </a:r>
            <a:r>
              <a:rPr lang="en-IN" dirty="0"/>
              <a:t> Version Check: </a:t>
            </a:r>
            <a:r>
              <a:rPr lang="en-IN" dirty="0" err="1"/>
              <a:t>npm</a:t>
            </a:r>
            <a:r>
              <a:rPr lang="en-IN" dirty="0"/>
              <a:t> -v</a:t>
            </a:r>
            <a:endParaRPr lang="en-US" dirty="0"/>
          </a:p>
          <a:p>
            <a:r>
              <a:rPr lang="en-US" dirty="0"/>
              <a:t>Step 2: Create React App using </a:t>
            </a:r>
            <a:r>
              <a:rPr lang="en-US" dirty="0" err="1"/>
              <a:t>vite</a:t>
            </a:r>
            <a:endParaRPr lang="en-US" dirty="0"/>
          </a:p>
          <a:p>
            <a:pPr marL="795528" lvl="2" indent="0">
              <a:buNone/>
            </a:pPr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r>
              <a:rPr lang="en-US" dirty="0"/>
              <a:t> my-app --template react</a:t>
            </a:r>
          </a:p>
          <a:p>
            <a:pPr marL="795528" lvl="2" indent="0">
              <a:buNone/>
            </a:pPr>
            <a:r>
              <a:rPr lang="en-US" dirty="0"/>
              <a:t>cd my-app</a:t>
            </a:r>
          </a:p>
          <a:p>
            <a:pPr marL="795528" lvl="2" indent="0">
              <a:buNone/>
            </a:pP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marL="795528" lvl="2" indent="0">
              <a:buNone/>
            </a:pPr>
            <a:r>
              <a:rPr lang="en-US" dirty="0" err="1"/>
              <a:t>npm</a:t>
            </a:r>
            <a:r>
              <a:rPr lang="en-US" dirty="0"/>
              <a:t> run dev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327" y="355002"/>
            <a:ext cx="8358692" cy="656217"/>
          </a:xfrm>
        </p:spPr>
        <p:txBody>
          <a:bodyPr/>
          <a:lstStyle/>
          <a:p>
            <a:r>
              <a:rPr lang="en-US" dirty="0"/>
              <a:t>Folder structure in </a:t>
            </a:r>
            <a:r>
              <a:rPr lang="en-US" dirty="0" err="1"/>
              <a:t>vite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73321" y="1925620"/>
            <a:ext cx="8662703" cy="4116364"/>
          </a:xfrm>
        </p:spPr>
        <p:txBody>
          <a:bodyPr/>
          <a:lstStyle/>
          <a:p>
            <a:r>
              <a:rPr lang="en-US" dirty="0"/>
              <a:t>my-app/                                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root project folder </a:t>
            </a:r>
            <a:endParaRPr lang="en-US" dirty="0"/>
          </a:p>
          <a:p>
            <a:r>
              <a:rPr lang="en-US" dirty="0"/>
              <a:t>├── public/                     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Static files go here (e: images, fonts </a:t>
            </a:r>
            <a:r>
              <a:rPr lang="en-US" sz="1800" b="0" i="0" dirty="0" err="1">
                <a:effectLst/>
                <a:latin typeface="Calibri" panose="020F0502020204030204" pitchFamily="34" charset="0"/>
              </a:rPr>
              <a:t>vite.svg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)</a:t>
            </a:r>
            <a:endParaRPr lang="en-US" dirty="0"/>
          </a:p>
          <a:p>
            <a:r>
              <a:rPr lang="en-US" dirty="0"/>
              <a:t>│   └── </a:t>
            </a:r>
            <a:r>
              <a:rPr lang="en-US" dirty="0" err="1"/>
              <a:t>vite.svg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src</a:t>
            </a:r>
            <a:r>
              <a:rPr lang="en-US" dirty="0"/>
              <a:t>/			     </a:t>
            </a:r>
            <a:r>
              <a:rPr lang="en-US" sz="18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</a:rPr>
              <a:t>This is where all your actual React code lives.</a:t>
            </a:r>
            <a:endParaRPr lang="en-US" sz="1800" dirty="0">
              <a:solidFill>
                <a:srgbClr val="002060"/>
              </a:solidFill>
            </a:endParaRPr>
          </a:p>
          <a:p>
            <a:r>
              <a:rPr lang="en-US" dirty="0"/>
              <a:t>│   ├── </a:t>
            </a:r>
            <a:r>
              <a:rPr lang="en-US" dirty="0" err="1"/>
              <a:t>App.jsx</a:t>
            </a:r>
            <a:r>
              <a:rPr lang="en-US" dirty="0"/>
              <a:t>              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Your 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main React component</a:t>
            </a:r>
            <a:endParaRPr lang="en-US" dirty="0"/>
          </a:p>
          <a:p>
            <a:r>
              <a:rPr lang="en-US" dirty="0"/>
              <a:t>│   ├── </a:t>
            </a:r>
            <a:r>
              <a:rPr lang="en-US" dirty="0" err="1"/>
              <a:t>main.jsx</a:t>
            </a:r>
            <a:r>
              <a:rPr lang="en-US" dirty="0"/>
              <a:t>            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Entry point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for the React app </a:t>
            </a:r>
            <a:endParaRPr lang="en-US" dirty="0"/>
          </a:p>
          <a:p>
            <a:r>
              <a:rPr lang="en-US" dirty="0"/>
              <a:t>├── index.html                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this is the main HTML template for your app</a:t>
            </a:r>
            <a:endParaRPr lang="en-US" dirty="0"/>
          </a:p>
          <a:p>
            <a:r>
              <a:rPr lang="en-US" dirty="0"/>
              <a:t>├── vite.config.js		       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This is Vite’s configuration file. ( Configure 					          plugins (e.g., React, Tailwind)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596132"/>
          </a:xfrm>
        </p:spPr>
        <p:txBody>
          <a:bodyPr/>
          <a:lstStyle/>
          <a:p>
            <a:r>
              <a:rPr lang="en-IN" dirty="0"/>
              <a:t>Understanding JSX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35162"/>
            <a:ext cx="4840941" cy="4388203"/>
          </a:xfrm>
        </p:spPr>
        <p:txBody>
          <a:bodyPr>
            <a:normAutofit/>
          </a:bodyPr>
          <a:lstStyle/>
          <a:p>
            <a:r>
              <a:rPr lang="en-IN" sz="2400" b="1" dirty="0"/>
              <a:t>What is JSX?</a:t>
            </a:r>
          </a:p>
          <a:p>
            <a:r>
              <a:rPr lang="en-IN" dirty="0"/>
              <a:t>JSX = </a:t>
            </a:r>
            <a:r>
              <a:rPr lang="en-IN" b="1" dirty="0"/>
              <a:t>JavaScript + XML-like Syntax</a:t>
            </a:r>
          </a:p>
          <a:p>
            <a:br>
              <a:rPr lang="en-IN" dirty="0"/>
            </a:br>
            <a:r>
              <a:rPr lang="en-IN" dirty="0"/>
              <a:t>Used to write HTML in JavaScript files for UI rendering.</a:t>
            </a:r>
          </a:p>
          <a:p>
            <a:endParaRPr lang="en-IN" dirty="0"/>
          </a:p>
          <a:p>
            <a:r>
              <a:rPr lang="en-IN" sz="2400" b="1" dirty="0"/>
              <a:t>JSX Rules:</a:t>
            </a:r>
          </a:p>
          <a:p>
            <a:pPr lvl="1"/>
            <a:r>
              <a:rPr lang="en-US" dirty="0"/>
              <a:t>Always return a </a:t>
            </a:r>
            <a:r>
              <a:rPr lang="en-US" b="1" dirty="0"/>
              <a:t>single parent element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className</a:t>
            </a:r>
            <a:r>
              <a:rPr lang="en-US" dirty="0"/>
              <a:t> instead of class</a:t>
            </a:r>
          </a:p>
          <a:p>
            <a:pPr lvl="1"/>
            <a:r>
              <a:rPr lang="en-US" dirty="0" err="1"/>
              <a:t>Javascript</a:t>
            </a:r>
            <a:r>
              <a:rPr lang="en-US" dirty="0"/>
              <a:t> expressions go inside {} </a:t>
            </a:r>
          </a:p>
          <a:p>
            <a:pPr marL="0" lvl="1" indent="0">
              <a:buNone/>
            </a:pPr>
            <a:r>
              <a:rPr lang="en-US" dirty="0"/>
              <a:t>    (</a:t>
            </a:r>
            <a:r>
              <a:rPr lang="en-US" sz="1800" b="0" i="0" dirty="0">
                <a:effectLst/>
                <a:latin typeface="Calibri Light" panose="020F0302020204030204" pitchFamily="34" charset="0"/>
              </a:rPr>
              <a:t>Embedding Expressions in JSX )</a:t>
            </a:r>
            <a:r>
              <a:rPr lang="en-US" dirty="0"/>
              <a:t> 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6908" y="2216967"/>
            <a:ext cx="2843605" cy="3720337"/>
          </a:xfrm>
        </p:spPr>
        <p:txBody>
          <a:bodyPr>
            <a:normAutofit/>
          </a:bodyPr>
          <a:lstStyle/>
          <a:p>
            <a:r>
              <a:rPr lang="en-US" dirty="0" err="1"/>
              <a:t>Eg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const name = "React";</a:t>
            </a:r>
          </a:p>
          <a:p>
            <a:r>
              <a:rPr lang="en-US" dirty="0"/>
              <a:t>return &lt;h1&gt;Hello,</a:t>
            </a:r>
          </a:p>
          <a:p>
            <a:r>
              <a:rPr lang="en-US" dirty="0"/>
              <a:t> {name}!&lt;/h1&gt;;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85469"/>
            <a:ext cx="9993854" cy="523220"/>
          </a:xfrm>
        </p:spPr>
        <p:txBody>
          <a:bodyPr/>
          <a:lstStyle/>
          <a:p>
            <a:r>
              <a:rPr lang="en-IN" dirty="0"/>
              <a:t>Functional vs Class Components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5974" y="1888448"/>
            <a:ext cx="7054835" cy="4824323"/>
          </a:xfrm>
        </p:spPr>
        <p:txBody>
          <a:bodyPr>
            <a:normAutofit/>
          </a:bodyPr>
          <a:lstStyle/>
          <a:p>
            <a:pPr algn="l" rtl="0" fontAlgn="base">
              <a:lnSpc>
                <a:spcPts val="1898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Before React introduced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function components with hooks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the main way to create components was using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classes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 </a:t>
            </a:r>
          </a:p>
          <a:p>
            <a:pPr algn="l" rtl="0" fontAlgn="base">
              <a:lnSpc>
                <a:spcPts val="1898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1800" b="0" i="0" dirty="0">
                <a:effectLst/>
                <a:latin typeface="Calibri" panose="020F0502020204030204" pitchFamily="34" charset="0"/>
              </a:rPr>
              <a:t>2. A 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Class Component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is a </a:t>
            </a:r>
            <a:r>
              <a:rPr lang="en-US" sz="1800" b="1" i="0" dirty="0" err="1">
                <a:effectLst/>
                <a:latin typeface="Calibri" panose="020F0502020204030204" pitchFamily="34" charset="0"/>
              </a:rPr>
              <a:t>JavaScriptclass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that 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extends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1800" b="0" i="0" dirty="0" err="1">
                <a:effectLst/>
                <a:latin typeface="Consolas" panose="020B0609020204030204" pitchFamily="49" charset="0"/>
              </a:rPr>
              <a:t>React.Component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and has a </a:t>
            </a:r>
            <a:r>
              <a:rPr lang="en-US" sz="1800" b="1" i="0" dirty="0">
                <a:effectLst/>
                <a:latin typeface="Consolas" panose="020B0609020204030204" pitchFamily="49" charset="0"/>
              </a:rPr>
              <a:t>render()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 method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to return JSX.</a:t>
            </a: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1800" b="0" i="0" dirty="0">
                <a:effectLst/>
                <a:latin typeface="Calibri" panose="020F0502020204030204" pitchFamily="34" charset="0"/>
              </a:rPr>
              <a:t> </a:t>
            </a:r>
            <a:endParaRPr lang="en-US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fontAlgn="base">
              <a:lnSpc>
                <a:spcPts val="2242"/>
              </a:lnSpc>
              <a:buNone/>
            </a:pPr>
            <a:r>
              <a:rPr lang="en-US" sz="1800" b="0" i="0" dirty="0">
                <a:effectLst/>
                <a:latin typeface="Calibri" panose="020F0502020204030204" pitchFamily="34" charset="0"/>
              </a:rPr>
              <a:t>3. Syntax Based on ES6 JavaScript Classes </a:t>
            </a:r>
            <a:endParaRPr lang="en-US" b="0" i="0" dirty="0"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ES6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means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ECMAScript 6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ECMA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=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European Computer Manufacturers Association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Script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= Refers to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JavaScript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(because JavaScript follows ECMAScript rules)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= It's the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6th edition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(released in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2015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1800" b="0" i="0" dirty="0">
                <a:effectLst/>
                <a:latin typeface="Calibri" panose="020F0502020204030204" pitchFamily="34" charset="0"/>
              </a:rPr>
              <a:t>3. Can have State (using </a:t>
            </a:r>
            <a:r>
              <a:rPr lang="en-US" sz="1800" b="0" i="0" dirty="0" err="1">
                <a:effectLst/>
                <a:latin typeface="Calibri" panose="020F0502020204030204" pitchFamily="34" charset="0"/>
              </a:rPr>
              <a:t>this.state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) 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0809" y="1430767"/>
            <a:ext cx="4830184" cy="4164516"/>
          </a:xfrm>
        </p:spPr>
        <p:txBody>
          <a:bodyPr>
            <a:normAutofit/>
          </a:bodyPr>
          <a:lstStyle/>
          <a:p>
            <a:r>
              <a:rPr lang="en-US" dirty="0" err="1"/>
              <a:t>Eg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AD9FB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(){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3DC10-6179-E8D4-08DB-207B7131AA7F}"/>
              </a:ext>
            </a:extLst>
          </p:cNvPr>
          <p:cNvSpPr txBox="1"/>
          <p:nvPr/>
        </p:nvSpPr>
        <p:spPr>
          <a:xfrm>
            <a:off x="642347" y="1236959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 1 .Class Component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32" y="186552"/>
            <a:ext cx="8788998" cy="506391"/>
          </a:xfrm>
        </p:spPr>
        <p:txBody>
          <a:bodyPr/>
          <a:lstStyle/>
          <a:p>
            <a:r>
              <a:rPr lang="en-US" sz="3200" b="1" i="0" dirty="0">
                <a:effectLst/>
                <a:latin typeface="Calibri" panose="020F0502020204030204" pitchFamily="34" charset="0"/>
              </a:rPr>
              <a:t>Example of Class Component with State</a:t>
            </a:r>
            <a:r>
              <a:rPr lang="en-US" sz="3200" b="0" i="0" dirty="0">
                <a:effectLst/>
                <a:latin typeface="Calibri" panose="020F0502020204030204" pitchFamily="34" charset="0"/>
              </a:rPr>
              <a:t> 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79699" y="1097281"/>
            <a:ext cx="12382051" cy="5454126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StateClass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i="1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super();</a:t>
            </a:r>
          </a:p>
          <a:p>
            <a:pPr>
              <a:lnSpc>
                <a:spcPts val="1425"/>
              </a:lnSpc>
              <a:buNone/>
            </a:pPr>
            <a:endParaRPr lang="en-IN" sz="1800" b="0" i="1" dirty="0">
              <a:solidFill>
                <a:srgbClr val="E5C07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 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}; 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sz="18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})  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8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endParaRPr lang="en-IN" sz="18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i="1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8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8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&gt;Increment&lt;/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&lt;/</a:t>
            </a:r>
            <a:r>
              <a:rPr lang="en-IN" sz="18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StateClass</a:t>
            </a:r>
            <a:r>
              <a:rPr lang="en-IN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821776"/>
            <a:ext cx="9879437" cy="471490"/>
          </a:xfrm>
        </p:spPr>
        <p:txBody>
          <a:bodyPr/>
          <a:lstStyle/>
          <a:p>
            <a:r>
              <a:rPr lang="en-US" i="0" dirty="0">
                <a:effectLst/>
                <a:latin typeface="Calibri" panose="020F0502020204030204" pitchFamily="34" charset="0"/>
              </a:rPr>
              <a:t>Lifecycle Methods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4099" y="1527586"/>
            <a:ext cx="8821269" cy="4508638"/>
          </a:xfrm>
        </p:spPr>
        <p:txBody>
          <a:bodyPr/>
          <a:lstStyle/>
          <a:p>
            <a:endParaRPr lang="en-US" sz="2000" dirty="0"/>
          </a:p>
          <a:p>
            <a:r>
              <a:rPr lang="en-US" sz="2000" dirty="0"/>
              <a:t>In React, </a:t>
            </a:r>
            <a:r>
              <a:rPr lang="en-US" sz="2000" b="1" dirty="0"/>
              <a:t>lifecycle methods</a:t>
            </a:r>
            <a:r>
              <a:rPr lang="en-US" sz="2000" dirty="0"/>
              <a:t> are special functions in </a:t>
            </a:r>
            <a:r>
              <a:rPr lang="en-US" sz="2000" b="1" dirty="0"/>
              <a:t>class components</a:t>
            </a:r>
            <a:r>
              <a:rPr lang="en-US" sz="2000" dirty="0"/>
              <a:t> that help you run code at specific times during the </a:t>
            </a:r>
            <a:r>
              <a:rPr lang="en-US" sz="2000" b="1" dirty="0"/>
              <a:t>lifetime</a:t>
            </a:r>
            <a:r>
              <a:rPr lang="en-US" sz="2000" dirty="0"/>
              <a:t> of the component.</a:t>
            </a:r>
          </a:p>
          <a:p>
            <a:r>
              <a:rPr lang="en-US" sz="2000" dirty="0"/>
              <a:t>These lifecycle methods are called automatically by React during various phases, such as when the component is being created, updated, or removed.</a:t>
            </a:r>
          </a:p>
          <a:p>
            <a:endParaRPr lang="en-US" sz="2000" dirty="0"/>
          </a:p>
          <a:p>
            <a:r>
              <a:rPr lang="en-US" sz="2000" dirty="0"/>
              <a:t>React class components have three main phases: </a:t>
            </a:r>
          </a:p>
          <a:p>
            <a:pPr marL="457200" indent="-457200">
              <a:buAutoNum type="arabicPeriod"/>
            </a:pPr>
            <a:r>
              <a:rPr lang="en-IN" sz="2000" dirty="0"/>
              <a:t>Mounting</a:t>
            </a:r>
            <a:endParaRPr lang="en-US" sz="2000" dirty="0"/>
          </a:p>
          <a:p>
            <a:pPr marL="457200" indent="-457200">
              <a:buAutoNum type="arabicPeriod"/>
            </a:pPr>
            <a:r>
              <a:rPr lang="en-IN" sz="2000" dirty="0"/>
              <a:t>Updating</a:t>
            </a:r>
            <a:endParaRPr lang="en-US" sz="2000" dirty="0"/>
          </a:p>
          <a:p>
            <a:pPr marL="457200" indent="-457200">
              <a:buAutoNum type="arabicPeriod"/>
            </a:pPr>
            <a:r>
              <a:rPr lang="en-IN" sz="2000" dirty="0"/>
              <a:t>Unmounting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347269"/>
            <a:ext cx="9875463" cy="846830"/>
          </a:xfrm>
        </p:spPr>
        <p:txBody>
          <a:bodyPr/>
          <a:lstStyle/>
          <a:p>
            <a:r>
              <a:rPr lang="en-IN" b="1" dirty="0"/>
              <a:t>1. Mounting Phase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0155" y="1635162"/>
            <a:ext cx="4744123" cy="4629459"/>
          </a:xfrm>
        </p:spPr>
        <p:txBody>
          <a:bodyPr>
            <a:normAutofit/>
          </a:bodyPr>
          <a:lstStyle/>
          <a:p>
            <a:pPr marL="338328" lvl="1" indent="0">
              <a:buNone/>
            </a:pPr>
            <a:r>
              <a:rPr lang="en-US" dirty="0"/>
              <a:t>This is when the component is being created and inserted into the DOM.</a:t>
            </a:r>
          </a:p>
          <a:p>
            <a:pPr marL="338328" lvl="1" indent="0">
              <a:buNone/>
            </a:pPr>
            <a:endParaRPr lang="en-US" dirty="0"/>
          </a:p>
          <a:p>
            <a:pPr marL="338328" lvl="1" indent="0">
              <a:buNone/>
            </a:pPr>
            <a:r>
              <a:rPr lang="en-US" b="1" dirty="0"/>
              <a:t>Why we use </a:t>
            </a:r>
            <a:r>
              <a:rPr lang="en-US" b="1" dirty="0" err="1"/>
              <a:t>componentDidMount</a:t>
            </a:r>
            <a:r>
              <a:rPr lang="en-US" b="1" dirty="0"/>
              <a:t>( ) ?</a:t>
            </a:r>
          </a:p>
          <a:p>
            <a:pPr marL="338328" lvl="1" indent="0">
              <a:buNone/>
            </a:pPr>
            <a:endParaRPr lang="en-US" b="1" dirty="0"/>
          </a:p>
          <a:p>
            <a:pPr marL="681228" lvl="1" indent="-342900">
              <a:buAutoNum type="arabicPeriod"/>
            </a:pPr>
            <a:r>
              <a:rPr lang="en-IN" b="1" dirty="0"/>
              <a:t>Fetching Data</a:t>
            </a:r>
          </a:p>
          <a:p>
            <a:pPr marL="681228" lvl="1" indent="-342900">
              <a:buAutoNum type="arabicPeriod"/>
            </a:pPr>
            <a:r>
              <a:rPr lang="en-IN" dirty="0"/>
              <a:t>Starting Timers/Intervals</a:t>
            </a:r>
            <a:endParaRPr lang="en-IN" b="1" dirty="0"/>
          </a:p>
          <a:p>
            <a:pPr marL="681228" lvl="1" indent="-342900">
              <a:buAutoNum type="arabicPeriod"/>
            </a:pPr>
            <a:r>
              <a:rPr lang="en-IN" dirty="0"/>
              <a:t>Interacting with the DOM</a:t>
            </a:r>
            <a:endParaRPr lang="en-IN" b="1" dirty="0"/>
          </a:p>
          <a:p>
            <a:pPr marL="681228" lvl="1" indent="-342900">
              <a:buAutoNum type="arabicPeriod"/>
            </a:pPr>
            <a:r>
              <a:rPr lang="en-IN" dirty="0"/>
              <a:t>Triggering Animations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776856" y="928688"/>
            <a:ext cx="6314739" cy="55820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E</a:t>
            </a:r>
          </a:p>
          <a:p>
            <a:pPr marL="0" indent="0">
              <a:buNone/>
            </a:pPr>
            <a:r>
              <a:rPr lang="en-US" sz="1200" b="1" dirty="0"/>
              <a:t>import React, { Component } from 'react';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class </a:t>
            </a:r>
            <a:r>
              <a:rPr lang="en-US" sz="1200" b="1" dirty="0" err="1"/>
              <a:t>MyComponent</a:t>
            </a:r>
            <a:r>
              <a:rPr lang="en-US" sz="1200" b="1" dirty="0"/>
              <a:t> extends Component {</a:t>
            </a:r>
          </a:p>
          <a:p>
            <a:pPr marL="0" indent="0">
              <a:buNone/>
            </a:pPr>
            <a:r>
              <a:rPr lang="en-US" sz="1200" b="1" dirty="0"/>
              <a:t>  </a:t>
            </a:r>
            <a:r>
              <a:rPr lang="en-US" sz="1200" b="1" dirty="0" err="1"/>
              <a:t>componentDidMount</a:t>
            </a:r>
            <a:r>
              <a:rPr lang="en-US" sz="1200" b="1" dirty="0"/>
              <a:t>() {</a:t>
            </a:r>
          </a:p>
          <a:p>
            <a:pPr marL="0" indent="0">
              <a:buNone/>
            </a:pPr>
            <a:r>
              <a:rPr lang="en-US" sz="1200" b="1" dirty="0"/>
              <a:t>    console.log('Component has been mounted!');</a:t>
            </a:r>
          </a:p>
          <a:p>
            <a:pPr marL="0" indent="0">
              <a:buNone/>
            </a:pPr>
            <a:r>
              <a:rPr lang="en-US" sz="1200" b="1" dirty="0"/>
              <a:t>  }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200" b="1" dirty="0"/>
              <a:t>  render() {</a:t>
            </a:r>
          </a:p>
          <a:p>
            <a:pPr marL="0" indent="0">
              <a:buNone/>
            </a:pPr>
            <a:r>
              <a:rPr lang="en-US" sz="1200" b="1" dirty="0"/>
              <a:t>    return (</a:t>
            </a:r>
          </a:p>
          <a:p>
            <a:pPr marL="0" indent="0">
              <a:buNone/>
            </a:pPr>
            <a:r>
              <a:rPr lang="en-US" sz="1200" b="1" dirty="0"/>
              <a:t>      &lt;div&gt;</a:t>
            </a:r>
          </a:p>
          <a:p>
            <a:pPr marL="0" indent="0">
              <a:buNone/>
            </a:pPr>
            <a:r>
              <a:rPr lang="en-US" sz="1200" b="1" dirty="0"/>
              <a:t>        &lt;h1&gt;Hello, the component is mounted!&lt;/h1&gt;</a:t>
            </a:r>
          </a:p>
          <a:p>
            <a:pPr marL="0" indent="0">
              <a:buNone/>
            </a:pPr>
            <a:r>
              <a:rPr lang="en-US" sz="1200" b="1" dirty="0"/>
              <a:t>      &lt;/div&gt;</a:t>
            </a:r>
          </a:p>
          <a:p>
            <a:pPr marL="0" indent="0">
              <a:buNone/>
            </a:pPr>
            <a:r>
              <a:rPr lang="en-US" sz="1200" b="1" dirty="0"/>
              <a:t>    );</a:t>
            </a:r>
          </a:p>
          <a:p>
            <a:pPr marL="0" indent="0">
              <a:buNone/>
            </a:pPr>
            <a:r>
              <a:rPr lang="en-US" sz="1200" b="1" dirty="0"/>
              <a:t>  }</a:t>
            </a:r>
          </a:p>
          <a:p>
            <a:pPr marL="0" indent="0">
              <a:buNone/>
            </a:pPr>
            <a:r>
              <a:rPr lang="en-US" sz="1200" b="1" dirty="0"/>
              <a:t>}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export default </a:t>
            </a:r>
            <a:r>
              <a:rPr lang="en-US" sz="1200" b="1" dirty="0" err="1"/>
              <a:t>MyComponent</a:t>
            </a:r>
            <a:r>
              <a:rPr lang="en-US" sz="1200" b="1" dirty="0"/>
              <a:t>;</a:t>
            </a:r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49" y="467957"/>
            <a:ext cx="10854466" cy="643754"/>
          </a:xfrm>
        </p:spPr>
        <p:txBody>
          <a:bodyPr/>
          <a:lstStyle/>
          <a:p>
            <a:r>
              <a:rPr lang="en-US" dirty="0"/>
              <a:t>2.</a:t>
            </a:r>
            <a:r>
              <a:rPr lang="en-IN" dirty="0"/>
              <a:t> Updating (Component is Changed)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716671488"/>
              </p:ext>
            </p:extLst>
          </p:nvPr>
        </p:nvGraphicFramePr>
        <p:xfrm>
          <a:off x="914400" y="1376979"/>
          <a:ext cx="10510836" cy="529276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951872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1548424">
                <a:tc>
                  <a:txBody>
                    <a:bodyPr/>
                    <a:lstStyle/>
                    <a:p>
                      <a:r>
                        <a:rPr lang="en-US" dirty="0"/>
                        <a:t>When a component is updated (because of changes in its state or props),  React  goes through a series of lifecycle methods. The most commonly used lifecycle methods during an update are: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74886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err="1"/>
                        <a:t>shouldComponentUpdate</a:t>
                      </a:r>
                      <a:r>
                        <a:rPr lang="en-US" b="1" dirty="0"/>
                        <a:t>()</a:t>
                      </a:r>
                      <a:r>
                        <a:rPr lang="en-US" dirty="0"/>
                        <a:t>: Determines whether the component should update (based on changes in state or props).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74886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render()</a:t>
                      </a:r>
                      <a:r>
                        <a:rPr lang="en-IN" dirty="0"/>
                        <a:t>: Re-renders the component.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74886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err="1"/>
                        <a:t>componentDidUpdate</a:t>
                      </a:r>
                      <a:r>
                        <a:rPr lang="en-US" b="1" dirty="0"/>
                        <a:t>()</a:t>
                      </a:r>
                      <a:r>
                        <a:rPr lang="en-US" dirty="0"/>
                        <a:t>: Called after the component has updated (re-rendered).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7488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7488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B6FB-A23B-52B9-CE09-9C57D6DF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7426"/>
            <a:ext cx="10877387" cy="6013525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SimpleCounter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accepts props as a parameter (though we're not using it here, it can be used to pass data into the component).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i="1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//invoke parent component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1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}; 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Initial state with count set to 0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1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});  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Increment count by 1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componentDidUpdate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IN" sz="11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1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IN" sz="11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is the props and state of the component before the update occurred.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!==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1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'Component updated! New count:'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&lt;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&gt;Count: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&lt;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i="1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1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1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&gt;Increment&lt;/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&lt;/</a:t>
            </a:r>
            <a:r>
              <a:rPr lang="en-IN" sz="11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SimpleCounter</a:t>
            </a:r>
            <a:r>
              <a:rPr lang="en-IN" sz="11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3059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EFD4-AC8B-80BF-7BAE-5D3301D5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68" y="593376"/>
            <a:ext cx="11585986" cy="697543"/>
          </a:xfrm>
        </p:spPr>
        <p:txBody>
          <a:bodyPr/>
          <a:lstStyle/>
          <a:p>
            <a:r>
              <a:rPr lang="en-US" dirty="0"/>
              <a:t>3. Unmounting (Component is Removed)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1F3D-FBEE-CCE3-29D4-5E4DC112C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1520" y="1454721"/>
            <a:ext cx="10511627" cy="394855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React, </a:t>
            </a:r>
            <a:r>
              <a:rPr lang="en-US" b="1" dirty="0"/>
              <a:t>Unmounting</a:t>
            </a:r>
            <a:r>
              <a:rPr lang="en-US" dirty="0"/>
              <a:t> is the phase when a component is removed from the DOM.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Explanation of </a:t>
            </a:r>
            <a:r>
              <a:rPr lang="en-IN" dirty="0" err="1"/>
              <a:t>componentWillUnmount</a:t>
            </a:r>
            <a:r>
              <a:rPr lang="en-IN" dirty="0"/>
              <a:t> :</a:t>
            </a:r>
          </a:p>
          <a:p>
            <a:r>
              <a:rPr lang="en-IN" dirty="0" err="1"/>
              <a:t>componentWillUnmount</a:t>
            </a:r>
            <a:r>
              <a:rPr lang="en-IN" dirty="0"/>
              <a:t> </a:t>
            </a:r>
            <a:r>
              <a:rPr lang="en-US" dirty="0"/>
              <a:t>is used to perform any necessary cleanup, such as :</a:t>
            </a:r>
          </a:p>
          <a:p>
            <a:pPr lvl="2"/>
            <a:r>
              <a:rPr lang="en-IN" dirty="0"/>
              <a:t>Cancelling network requests.</a:t>
            </a:r>
            <a:endParaRPr lang="en-US" dirty="0"/>
          </a:p>
          <a:p>
            <a:pPr lvl="2"/>
            <a:r>
              <a:rPr lang="en-IN" dirty="0"/>
              <a:t>Removing event listeners.</a:t>
            </a:r>
            <a:endParaRPr lang="en-US" dirty="0"/>
          </a:p>
          <a:p>
            <a:pPr lvl="2"/>
            <a:r>
              <a:rPr lang="en-US" dirty="0"/>
              <a:t>Cleaning up subscriptions or timers.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4C29A-1EB9-7359-8438-F33A9F46F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5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D762-6E0E-9298-2A92-7338DA6C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86" y="247426"/>
            <a:ext cx="11499925" cy="6196405"/>
          </a:xfrm>
        </p:spPr>
        <p:txBody>
          <a:bodyPr/>
          <a:lstStyle/>
          <a:p>
            <a:pPr>
              <a:lnSpc>
                <a:spcPts val="1425"/>
              </a:lnSpc>
            </a:pP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};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componentDidMount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Start a timer when the component mounts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prevState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}))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},</a:t>
            </a:r>
            <a:r>
              <a:rPr lang="en-IN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componentWillUnmount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// Clean up the timer when the component unmounts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'Timer cleaned up!'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&gt;Time: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seconds&lt;/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&lt;/</a:t>
            </a:r>
            <a:r>
              <a:rPr lang="en-IN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360072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7EF2-9F60-5796-CE97-361DBB3E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835" y="492496"/>
            <a:ext cx="9909198" cy="882127"/>
          </a:xfrm>
        </p:spPr>
        <p:txBody>
          <a:bodyPr/>
          <a:lstStyle/>
          <a:p>
            <a:r>
              <a:rPr lang="en-IN" b="1" dirty="0"/>
              <a:t>functional components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9EF7-EBF8-03FB-D9B2-1A221F82D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1" y="2065468"/>
            <a:ext cx="8682825" cy="4017312"/>
          </a:xfrm>
        </p:spPr>
        <p:txBody>
          <a:bodyPr/>
          <a:lstStyle/>
          <a:p>
            <a:r>
              <a:rPr lang="en-US" dirty="0"/>
              <a:t>In React, </a:t>
            </a:r>
            <a:r>
              <a:rPr lang="en-US" b="1" dirty="0"/>
              <a:t>functional components</a:t>
            </a:r>
            <a:r>
              <a:rPr lang="en-US" dirty="0"/>
              <a:t> are simpler than class components and are just JavaScript functions that return JSX.</a:t>
            </a:r>
          </a:p>
          <a:p>
            <a:endParaRPr lang="en-IN" dirty="0"/>
          </a:p>
          <a:p>
            <a:r>
              <a:rPr lang="en-US" dirty="0"/>
              <a:t>Let's go over the following concepts in functional components: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1. State: using the </a:t>
            </a:r>
            <a:r>
              <a:rPr lang="en-IN" dirty="0" err="1"/>
              <a:t>useState</a:t>
            </a:r>
            <a:r>
              <a:rPr lang="en-IN" dirty="0"/>
              <a:t> hook.</a:t>
            </a:r>
          </a:p>
          <a:p>
            <a:pPr lvl="1"/>
            <a:r>
              <a:rPr lang="en-IN" dirty="0"/>
              <a:t>2.</a:t>
            </a:r>
            <a:r>
              <a:rPr lang="en-US" b="1" dirty="0"/>
              <a:t> Props</a:t>
            </a:r>
            <a:r>
              <a:rPr lang="en-US" dirty="0"/>
              <a:t>: How to pass data to functional components.</a:t>
            </a:r>
            <a:endParaRPr lang="en-IN" dirty="0"/>
          </a:p>
          <a:p>
            <a:pPr lvl="1"/>
            <a:r>
              <a:rPr lang="en-IN" dirty="0"/>
              <a:t>3. Lifecycle methods:  Using  the </a:t>
            </a:r>
            <a:r>
              <a:rPr lang="en-IN" dirty="0" err="1"/>
              <a:t>useEffect</a:t>
            </a:r>
            <a:r>
              <a:rPr lang="en-IN" dirty="0"/>
              <a:t> hook to replicate lifecycle methods.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E4300-009D-19BA-D6DE-1E8927A86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77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DD29-B1FC-86AB-ED4D-1ACF4CD8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3376"/>
            <a:ext cx="10511627" cy="654511"/>
          </a:xfrm>
        </p:spPr>
        <p:txBody>
          <a:bodyPr/>
          <a:lstStyle/>
          <a:p>
            <a:r>
              <a:rPr lang="en-IN" dirty="0"/>
              <a:t>State in Functional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5C66-E975-E44C-E1B7-A4A382292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384064"/>
            <a:ext cx="11112649" cy="53287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import React, { </a:t>
            </a:r>
            <a:r>
              <a:rPr lang="en-IN" dirty="0" err="1"/>
              <a:t>useState</a:t>
            </a:r>
            <a:r>
              <a:rPr lang="en-IN" dirty="0"/>
              <a:t> } from 'react';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Timer = () =&gt;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[time, </a:t>
            </a:r>
            <a:r>
              <a:rPr lang="en-IN" dirty="0" err="1"/>
              <a:t>setTime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(0); // Initial state is 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// Function to increment the timer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incrementTime</a:t>
            </a:r>
            <a:r>
              <a:rPr lang="en-IN" dirty="0"/>
              <a:t> = () =&gt;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setTime</a:t>
            </a:r>
            <a:r>
              <a:rPr lang="en-IN" dirty="0"/>
              <a:t>(time + 1);</a:t>
            </a:r>
          </a:p>
          <a:p>
            <a:pPr marL="0" indent="0">
              <a:buNone/>
            </a:pPr>
            <a:r>
              <a:rPr lang="en-IN" dirty="0"/>
              <a:t>  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(</a:t>
            </a:r>
          </a:p>
          <a:p>
            <a:pPr marL="0" indent="0">
              <a:buNone/>
            </a:pPr>
            <a:r>
              <a:rPr lang="en-IN" dirty="0"/>
              <a:t>    &lt;div&gt;</a:t>
            </a:r>
          </a:p>
          <a:p>
            <a:pPr marL="0" indent="0">
              <a:buNone/>
            </a:pPr>
            <a:r>
              <a:rPr lang="en-IN" dirty="0"/>
              <a:t>      &lt;h1&gt;Time: {time} seconds&lt;/h1&gt;</a:t>
            </a:r>
          </a:p>
          <a:p>
            <a:pPr marL="0" indent="0">
              <a:buNone/>
            </a:pPr>
            <a:r>
              <a:rPr lang="en-IN" dirty="0"/>
              <a:t>      &lt;button </a:t>
            </a:r>
            <a:r>
              <a:rPr lang="en-IN" dirty="0" err="1"/>
              <a:t>onClick</a:t>
            </a:r>
            <a:r>
              <a:rPr lang="en-IN" dirty="0"/>
              <a:t>={</a:t>
            </a:r>
            <a:r>
              <a:rPr lang="en-IN" dirty="0" err="1"/>
              <a:t>incrementTime</a:t>
            </a:r>
            <a:r>
              <a:rPr lang="en-IN" dirty="0"/>
              <a:t>}&gt;Increment Time&lt;/button&gt;</a:t>
            </a:r>
          </a:p>
          <a:p>
            <a:pPr marL="0" indent="0">
              <a:buNone/>
            </a:pPr>
            <a:r>
              <a:rPr lang="en-IN" dirty="0"/>
              <a:t>    &lt;/div&gt;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default Timer;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34CAE-6338-6CB2-70E0-529EA5469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88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45AA-2033-1BCB-6644-C4E8F6420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11" y="13781"/>
            <a:ext cx="10886738" cy="994164"/>
          </a:xfrm>
        </p:spPr>
        <p:txBody>
          <a:bodyPr/>
          <a:lstStyle/>
          <a:p>
            <a:r>
              <a:rPr lang="en-IN" dirty="0"/>
              <a:t>Props in Functional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D3F06-C9CD-49A5-112B-566CADC3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07745" y="1731980"/>
            <a:ext cx="8618279" cy="4668821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&gt;Hello,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!&lt;/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PropDatas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&lt;</a:t>
            </a:r>
            <a:r>
              <a:rPr lang="en-IN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1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/&gt;;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PropDatas</a:t>
            </a: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0978E-B52D-642C-7E81-303AB21F4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69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1823-49B5-0465-4331-3B1A3624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1064" y="593376"/>
            <a:ext cx="12532659" cy="1095575"/>
          </a:xfrm>
        </p:spPr>
        <p:txBody>
          <a:bodyPr/>
          <a:lstStyle/>
          <a:p>
            <a:r>
              <a:rPr lang="en-US" b="1" dirty="0"/>
              <a:t>Lifecycle Methods in Functional Components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90E3-2DFD-B509-E88E-2970CF6B6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871167E-7882-4005-5B49-1DBA999FF5DF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796065" y="2293687"/>
            <a:ext cx="10327341" cy="377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functional components,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useEffect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hook replaces these lifecycle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Mounting :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componentDidMount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 -&gt; use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useEffect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 ( ) =&gt; { },[ ] )    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Fetch API data, set up event listeners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Updating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componentDidUpdate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-&gt; use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useFffect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 ( ) =&gt; { }, [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dependancy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 )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 Update component when state/props change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UnMounting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componentWillUnMount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-&gt; use  return ( ) =&gt; { cleanup } inside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useEffect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 Remove event listeners, clear timers 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476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0A9C-BC34-1925-DBAD-F917A1CC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984" y="249273"/>
            <a:ext cx="7965461" cy="471489"/>
          </a:xfrm>
        </p:spPr>
        <p:txBody>
          <a:bodyPr/>
          <a:lstStyle/>
          <a:p>
            <a:r>
              <a:rPr lang="en-IN" dirty="0"/>
              <a:t>Mount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E49CD-C777-11D8-B49D-042AD72F3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4565" y="928688"/>
            <a:ext cx="8521460" cy="55796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import React, { </a:t>
            </a:r>
            <a:r>
              <a:rPr lang="en-IN" dirty="0" err="1"/>
              <a:t>useState</a:t>
            </a:r>
            <a:r>
              <a:rPr lang="en-IN" dirty="0"/>
              <a:t>, </a:t>
            </a:r>
            <a:r>
              <a:rPr lang="en-IN" dirty="0" err="1"/>
              <a:t>useEffect</a:t>
            </a:r>
            <a:r>
              <a:rPr lang="en-IN" dirty="0"/>
              <a:t> } from 'react';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Counter = () =&gt;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[count, </a:t>
            </a:r>
            <a:r>
              <a:rPr lang="en-IN" dirty="0" err="1"/>
              <a:t>setCount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useEffect</a:t>
            </a:r>
            <a:r>
              <a:rPr lang="en-IN" dirty="0"/>
              <a:t>(() =&gt; {</a:t>
            </a:r>
          </a:p>
          <a:p>
            <a:pPr marL="0" indent="0">
              <a:buNone/>
            </a:pPr>
            <a:r>
              <a:rPr lang="en-IN" dirty="0"/>
              <a:t>    // Log when the count changes (</a:t>
            </a:r>
            <a:r>
              <a:rPr lang="en-IN" dirty="0" err="1"/>
              <a:t>componentDidUpdate</a:t>
            </a:r>
            <a:r>
              <a:rPr lang="en-IN" dirty="0"/>
              <a:t> </a:t>
            </a:r>
            <a:r>
              <a:rPr lang="en-IN" dirty="0" err="1"/>
              <a:t>behavior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console.log('Count updated:', count);</a:t>
            </a:r>
          </a:p>
          <a:p>
            <a:pPr marL="0" indent="0">
              <a:buNone/>
            </a:pPr>
            <a:r>
              <a:rPr lang="en-IN" dirty="0"/>
              <a:t>  }, []);  // This effect will run every time the `count` state changes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(</a:t>
            </a:r>
          </a:p>
          <a:p>
            <a:pPr marL="0" indent="0">
              <a:buNone/>
            </a:pPr>
            <a:r>
              <a:rPr lang="en-IN" dirty="0"/>
              <a:t>    &lt;div&gt;</a:t>
            </a:r>
          </a:p>
          <a:p>
            <a:pPr marL="0" indent="0">
              <a:buNone/>
            </a:pPr>
            <a:r>
              <a:rPr lang="en-IN" dirty="0"/>
              <a:t>      &lt;h1&gt;Count: {count}&lt;/h1&gt;</a:t>
            </a:r>
          </a:p>
          <a:p>
            <a:pPr marL="0" indent="0">
              <a:buNone/>
            </a:pPr>
            <a:r>
              <a:rPr lang="en-IN" dirty="0"/>
              <a:t>      &lt;button </a:t>
            </a:r>
            <a:r>
              <a:rPr lang="en-IN" dirty="0" err="1"/>
              <a:t>onClick</a:t>
            </a:r>
            <a:r>
              <a:rPr lang="en-IN" dirty="0"/>
              <a:t>={() =&gt; </a:t>
            </a:r>
            <a:r>
              <a:rPr lang="en-IN" dirty="0" err="1"/>
              <a:t>setCount</a:t>
            </a:r>
            <a:r>
              <a:rPr lang="en-IN" dirty="0"/>
              <a:t>(count + 1)}&gt;Increment&lt;/button&gt;</a:t>
            </a:r>
          </a:p>
          <a:p>
            <a:pPr marL="0" indent="0">
              <a:buNone/>
            </a:pPr>
            <a:r>
              <a:rPr lang="en-IN" dirty="0"/>
              <a:t>    &lt;/div&gt;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default Counter;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5E9E8-10C4-4C02-4C2F-BA287EB37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5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7BFC-ED2C-1851-0145-62621AC1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791" y="277010"/>
            <a:ext cx="10511627" cy="591671"/>
          </a:xfrm>
        </p:spPr>
        <p:txBody>
          <a:bodyPr/>
          <a:lstStyle/>
          <a:p>
            <a:r>
              <a:rPr lang="en-IN" sz="2800" dirty="0"/>
              <a:t>Updating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39B44-E987-9DD1-428E-4E59AE4EF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7582" y="710005"/>
            <a:ext cx="11209468" cy="61479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import React, { </a:t>
            </a:r>
            <a:r>
              <a:rPr lang="en-IN" sz="1200" dirty="0" err="1"/>
              <a:t>useState</a:t>
            </a:r>
            <a:r>
              <a:rPr lang="en-IN" sz="1200" dirty="0"/>
              <a:t>, </a:t>
            </a:r>
            <a:r>
              <a:rPr lang="en-IN" sz="1200" dirty="0" err="1"/>
              <a:t>useEffect</a:t>
            </a:r>
            <a:r>
              <a:rPr lang="en-IN" sz="1200" dirty="0"/>
              <a:t> } from 'react';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 err="1"/>
              <a:t>const</a:t>
            </a:r>
            <a:r>
              <a:rPr lang="en-IN" sz="1200" dirty="0"/>
              <a:t> Counter = () =&gt; {</a:t>
            </a:r>
          </a:p>
          <a:p>
            <a:pPr marL="0" indent="0">
              <a:buNone/>
            </a:pPr>
            <a:r>
              <a:rPr lang="en-IN" sz="1200" dirty="0"/>
              <a:t>  </a:t>
            </a:r>
            <a:r>
              <a:rPr lang="en-IN" sz="1200" dirty="0" err="1"/>
              <a:t>const</a:t>
            </a:r>
            <a:r>
              <a:rPr lang="en-IN" sz="1200" dirty="0"/>
              <a:t> [count, </a:t>
            </a:r>
            <a:r>
              <a:rPr lang="en-IN" sz="1200" dirty="0" err="1"/>
              <a:t>setCount</a:t>
            </a:r>
            <a:r>
              <a:rPr lang="en-IN" sz="1200" dirty="0"/>
              <a:t>] = </a:t>
            </a:r>
            <a:r>
              <a:rPr lang="en-IN" sz="1200" dirty="0" err="1"/>
              <a:t>useState</a:t>
            </a:r>
            <a:r>
              <a:rPr lang="en-IN" sz="1200" dirty="0"/>
              <a:t>(0);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</a:t>
            </a:r>
            <a:r>
              <a:rPr lang="en-IN" sz="1200" dirty="0" err="1"/>
              <a:t>useEffect</a:t>
            </a:r>
            <a:r>
              <a:rPr lang="en-IN" sz="1200" dirty="0"/>
              <a:t>(() =&gt; {</a:t>
            </a:r>
          </a:p>
          <a:p>
            <a:pPr marL="0" indent="0">
              <a:buNone/>
            </a:pPr>
            <a:r>
              <a:rPr lang="en-IN" sz="1200" dirty="0"/>
              <a:t>    // Log when the count changes (</a:t>
            </a:r>
            <a:r>
              <a:rPr lang="en-IN" sz="1200" dirty="0" err="1"/>
              <a:t>componentDidUpdate</a:t>
            </a:r>
            <a:r>
              <a:rPr lang="en-IN" sz="1200" dirty="0"/>
              <a:t> </a:t>
            </a:r>
            <a:r>
              <a:rPr lang="en-IN" sz="1200" dirty="0" err="1"/>
              <a:t>behavior</a:t>
            </a:r>
            <a:r>
              <a:rPr lang="en-IN" sz="1200" dirty="0"/>
              <a:t>)</a:t>
            </a:r>
          </a:p>
          <a:p>
            <a:pPr marL="0" indent="0">
              <a:buNone/>
            </a:pPr>
            <a:r>
              <a:rPr lang="en-IN" sz="1200" dirty="0"/>
              <a:t>    console.log('Count updated:', count);</a:t>
            </a:r>
          </a:p>
          <a:p>
            <a:pPr marL="0" indent="0">
              <a:buNone/>
            </a:pPr>
            <a:r>
              <a:rPr lang="en-IN" sz="1200" dirty="0"/>
              <a:t>  }, [count]);  // This effect will run every time the `count` state changes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return (</a:t>
            </a:r>
          </a:p>
          <a:p>
            <a:pPr marL="0" indent="0">
              <a:buNone/>
            </a:pPr>
            <a:r>
              <a:rPr lang="en-IN" sz="1200" dirty="0"/>
              <a:t>    &lt;div&gt;</a:t>
            </a:r>
          </a:p>
          <a:p>
            <a:pPr marL="0" indent="0">
              <a:buNone/>
            </a:pPr>
            <a:r>
              <a:rPr lang="en-IN" sz="1200" dirty="0"/>
              <a:t>      &lt;h1&gt;Count: {count}&lt;/h1&gt;</a:t>
            </a:r>
          </a:p>
          <a:p>
            <a:pPr marL="0" indent="0">
              <a:buNone/>
            </a:pPr>
            <a:r>
              <a:rPr lang="en-IN" sz="1200" dirty="0"/>
              <a:t>      &lt;button </a:t>
            </a:r>
            <a:r>
              <a:rPr lang="en-IN" sz="1200" dirty="0" err="1"/>
              <a:t>onClick</a:t>
            </a:r>
            <a:r>
              <a:rPr lang="en-IN" sz="1200" dirty="0"/>
              <a:t>={() =&gt; </a:t>
            </a:r>
            <a:r>
              <a:rPr lang="en-IN" sz="1200" dirty="0" err="1"/>
              <a:t>setCount</a:t>
            </a:r>
            <a:r>
              <a:rPr lang="en-IN" sz="1200" dirty="0"/>
              <a:t>(count + 1)}&gt;Increment&lt;/button&gt;</a:t>
            </a:r>
          </a:p>
          <a:p>
            <a:pPr marL="0" indent="0">
              <a:buNone/>
            </a:pPr>
            <a:r>
              <a:rPr lang="en-IN" sz="1200" dirty="0"/>
              <a:t>    &lt;/div&gt;</a:t>
            </a:r>
          </a:p>
          <a:p>
            <a:pPr marL="0" indent="0">
              <a:buNone/>
            </a:pPr>
            <a:r>
              <a:rPr lang="en-IN" sz="1200" dirty="0"/>
              <a:t>  );</a:t>
            </a:r>
          </a:p>
          <a:p>
            <a:pPr marL="0" indent="0">
              <a:buNone/>
            </a:pPr>
            <a:r>
              <a:rPr lang="en-IN" sz="1200" dirty="0"/>
              <a:t>};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export default Counter;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E9A9D-A8D8-3217-22A6-06FCBA406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38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561C-DA53-6EFE-9D03-57539109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61374"/>
            <a:ext cx="8819909" cy="1255852"/>
          </a:xfrm>
        </p:spPr>
        <p:txBody>
          <a:bodyPr/>
          <a:lstStyle/>
          <a:p>
            <a:r>
              <a:rPr lang="en-US" sz="3200" b="1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IN" sz="3200" b="1" dirty="0"/>
              <a:t> React Router Basics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BF5B-DC6D-BB48-97CE-210D281FC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354" y="2384385"/>
            <a:ext cx="9340770" cy="3912242"/>
          </a:xfrm>
        </p:spPr>
        <p:txBody>
          <a:bodyPr/>
          <a:lstStyle/>
          <a:p>
            <a:r>
              <a:rPr lang="en-US" b="1" dirty="0"/>
              <a:t>React Router</a:t>
            </a:r>
            <a:r>
              <a:rPr lang="en-US" dirty="0"/>
              <a:t> is used for handling navigation in a React application without reloading the page. It helps build </a:t>
            </a:r>
            <a:r>
              <a:rPr lang="en-US" b="1" dirty="0"/>
              <a:t>Single Page Applications (SPAs)</a:t>
            </a:r>
            <a:r>
              <a:rPr lang="en-US" dirty="0"/>
              <a:t>.</a:t>
            </a:r>
          </a:p>
          <a:p>
            <a:r>
              <a:rPr lang="en-US" dirty="0"/>
              <a:t>Installation:</a:t>
            </a:r>
          </a:p>
          <a:p>
            <a:r>
              <a:rPr lang="en-IN" dirty="0" err="1"/>
              <a:t>npm</a:t>
            </a:r>
            <a:r>
              <a:rPr lang="en-IN" dirty="0"/>
              <a:t> install react-router-</a:t>
            </a:r>
            <a:r>
              <a:rPr lang="en-IN" dirty="0" err="1"/>
              <a:t>dom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440EF-E935-6B08-13D7-71A49F87C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20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80BB-E36D-35D5-7451-9E88F3B5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D4B9-AE53-7923-725E-741E85CC11A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</a:t>
            </a:r>
            <a:r>
              <a:rPr lang="en-US" b="1" dirty="0"/>
              <a:t>React</a:t>
            </a:r>
            <a:r>
              <a:rPr lang="en-US" dirty="0"/>
              <a:t>, before </a:t>
            </a:r>
            <a:r>
              <a:rPr lang="en-US" b="1" dirty="0"/>
              <a:t>Hooks</a:t>
            </a:r>
            <a:r>
              <a:rPr lang="en-US" dirty="0"/>
              <a:t>, if you wanted to use things like state, lifecycle methods, or side effects, you had to use </a:t>
            </a:r>
            <a:r>
              <a:rPr lang="en-US" b="1" dirty="0"/>
              <a:t>class components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But since React 16.8, </a:t>
            </a:r>
            <a:r>
              <a:rPr lang="en-US" b="1" dirty="0"/>
              <a:t>Hooks</a:t>
            </a:r>
            <a:r>
              <a:rPr lang="en-US" dirty="0"/>
              <a:t> let you use these features in </a:t>
            </a:r>
            <a:r>
              <a:rPr lang="en-US" b="1" dirty="0"/>
              <a:t>function components</a:t>
            </a:r>
            <a:r>
              <a:rPr lang="en-US" dirty="0"/>
              <a:t> — which are easier to write and manage.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❓ </a:t>
            </a:r>
            <a:r>
              <a:rPr lang="en-IN" b="1" dirty="0"/>
              <a:t>Why use Hooks?</a:t>
            </a:r>
          </a:p>
          <a:p>
            <a:pPr marL="0" indent="0">
              <a:buNone/>
            </a:pPr>
            <a:r>
              <a:rPr lang="en-IN" b="1" dirty="0"/>
              <a:t>Simpler Code (No Classes)</a:t>
            </a:r>
            <a:br>
              <a:rPr lang="en-IN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WordVisi_MSFontService"/>
              </a:rPr>
              <a:t>Reusable Logic via Custom Hooks</a:t>
            </a:r>
          </a:p>
          <a:p>
            <a:pPr marL="0" indent="0">
              <a:buNone/>
            </a:pPr>
            <a:r>
              <a:rPr lang="en-US" sz="1800" b="1" i="0" dirty="0">
                <a:effectLst/>
                <a:latin typeface="Calibri" panose="020F0502020204030204" pitchFamily="34" charset="0"/>
              </a:rPr>
              <a:t>Better Separation of Concerns</a:t>
            </a:r>
            <a:r>
              <a:rPr lang="en-US" sz="1800" b="0" i="0" dirty="0">
                <a:effectLst/>
                <a:latin typeface="WordVisiCarriageReturn_MSFontService"/>
              </a:rPr>
              <a:t> </a:t>
            </a:r>
            <a:br>
              <a:rPr lang="en-US" sz="1800" b="0" i="0" dirty="0">
                <a:effectLst/>
                <a:latin typeface="WordVisiCarriageReturn_MSFontService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C74BA-E16F-92BB-EA48-FDA62CCEA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46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40DC-C606-D3BD-766A-DB6A9608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i="0" dirty="0">
                <a:solidFill>
                  <a:srgbClr val="1E4E79"/>
                </a:solidFill>
                <a:effectLst/>
                <a:latin typeface="Calibri" panose="020F0502020204030204" pitchFamily="34" charset="0"/>
              </a:rPr>
              <a:t>Rules of Hooks Explained 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B611-D85C-5CBD-2BED-CBDBDE2919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1. Only Call Hooks at the Top Level </a:t>
            </a:r>
          </a:p>
          <a:p>
            <a:pPr lvl="2"/>
            <a:r>
              <a:rPr lang="en-US" sz="2400" b="1" i="0" dirty="0">
                <a:effectLst/>
                <a:latin typeface="Calibri" panose="020F0502020204030204" pitchFamily="34" charset="0"/>
              </a:rPr>
              <a:t>What it means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: Always place your hook calls at the beginning of your component function, not inside loops, conditions, or nested functions. </a:t>
            </a:r>
            <a:endParaRPr lang="en-US" sz="2400" b="0" i="0" dirty="0">
              <a:solidFill>
                <a:srgbClr val="2E75B5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2. Only Call Hooks from React Functions </a:t>
            </a:r>
          </a:p>
          <a:p>
            <a:pPr lvl="2" fontAlgn="base">
              <a:lnSpc>
                <a:spcPts val="1898"/>
              </a:lnSpc>
              <a:buNone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What it means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: Only use hooks inside: </a:t>
            </a:r>
          </a:p>
          <a:p>
            <a:pPr lvl="2" fontAlgn="base">
              <a:lnSpc>
                <a:spcPts val="1898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React functional components </a:t>
            </a:r>
          </a:p>
          <a:p>
            <a:pPr lvl="2" fontAlgn="base">
              <a:lnSpc>
                <a:spcPts val="1898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 hooks (functions starting with "use") </a:t>
            </a:r>
          </a:p>
          <a:p>
            <a:pPr lvl="2"/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29813-C8FB-AB7B-2305-B44BA1F16E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15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A52C-C4A6-3881-EC83-559B804A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28687"/>
            <a:ext cx="10511627" cy="471489"/>
          </a:xfrm>
        </p:spPr>
        <p:txBody>
          <a:bodyPr/>
          <a:lstStyle/>
          <a:p>
            <a:r>
              <a:rPr lang="en-IN" b="1" dirty="0"/>
              <a:t>🔑 Core Hooks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4B79-7725-F185-EE01-B2A048462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585733"/>
            <a:ext cx="10511627" cy="50812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 err="1"/>
              <a:t>useState</a:t>
            </a:r>
            <a:r>
              <a:rPr lang="en-US" sz="3200" dirty="0"/>
              <a:t> </a:t>
            </a:r>
            <a:r>
              <a:rPr lang="en-IN" sz="3200" dirty="0"/>
              <a:t>– for State Management</a:t>
            </a:r>
          </a:p>
          <a:p>
            <a:pPr marL="0" indent="0">
              <a:buNone/>
            </a:pPr>
            <a:r>
              <a:rPr lang="en-IN" sz="3200" dirty="0"/>
              <a:t>	</a:t>
            </a:r>
            <a:r>
              <a:rPr lang="en-IN" sz="1600" dirty="0"/>
              <a:t>import { </a:t>
            </a:r>
            <a:r>
              <a:rPr lang="en-IN" sz="1600" dirty="0" err="1"/>
              <a:t>useState</a:t>
            </a:r>
            <a:r>
              <a:rPr lang="en-IN" sz="1600" dirty="0"/>
              <a:t> } from 'react’; </a:t>
            </a:r>
          </a:p>
          <a:p>
            <a:pPr marL="0" indent="0">
              <a:buNone/>
            </a:pPr>
            <a:r>
              <a:rPr lang="en-IN" sz="1600" dirty="0"/>
              <a:t>	function Counter() {</a:t>
            </a:r>
          </a:p>
          <a:p>
            <a:pPr marL="0" indent="0">
              <a:buNone/>
            </a:pPr>
            <a:r>
              <a:rPr lang="en-US" sz="1600" dirty="0"/>
              <a:t> 	const [count, </a:t>
            </a:r>
            <a:r>
              <a:rPr lang="en-US" sz="1600" dirty="0" err="1"/>
              <a:t>setCount</a:t>
            </a:r>
            <a:r>
              <a:rPr lang="en-US" sz="1600" dirty="0"/>
              <a:t>] = </a:t>
            </a:r>
            <a:r>
              <a:rPr lang="en-US" sz="1600" dirty="0" err="1"/>
              <a:t>useState</a:t>
            </a:r>
            <a:r>
              <a:rPr lang="en-US" sz="1600" dirty="0"/>
              <a:t>(0); // initial value = 0</a:t>
            </a:r>
          </a:p>
          <a:p>
            <a:pPr marL="0" indent="0">
              <a:buNone/>
            </a:pPr>
            <a:r>
              <a:rPr lang="en-US" sz="1600" dirty="0"/>
              <a:t>	return (</a:t>
            </a:r>
          </a:p>
          <a:p>
            <a:pPr marL="795528" lvl="2" indent="0">
              <a:buNone/>
            </a:pPr>
            <a:r>
              <a:rPr lang="en-US" sz="1600" dirty="0"/>
              <a:t>    &lt;div&gt;</a:t>
            </a:r>
          </a:p>
          <a:p>
            <a:pPr marL="795528" lvl="2" indent="0">
              <a:buNone/>
            </a:pPr>
            <a:r>
              <a:rPr lang="en-US" sz="1600" dirty="0"/>
              <a:t>      &lt;p&gt;Count: {count}&lt;/p&gt;</a:t>
            </a:r>
            <a:r>
              <a:rPr lang="en-IN" sz="1600" dirty="0"/>
              <a:t>	</a:t>
            </a:r>
          </a:p>
          <a:p>
            <a:pPr marL="795528" lvl="2" indent="0">
              <a:buNone/>
            </a:pPr>
            <a:r>
              <a:rPr lang="en-US" sz="1600" dirty="0"/>
              <a:t> &lt;button </a:t>
            </a:r>
            <a:r>
              <a:rPr lang="en-US" sz="1600" dirty="0" err="1"/>
              <a:t>onClick</a:t>
            </a:r>
            <a:r>
              <a:rPr lang="en-US" sz="1600" dirty="0"/>
              <a:t>={() =&gt; </a:t>
            </a:r>
            <a:r>
              <a:rPr lang="en-US" sz="1600" dirty="0" err="1"/>
              <a:t>setCount</a:t>
            </a:r>
            <a:r>
              <a:rPr lang="en-US" sz="1600" dirty="0"/>
              <a:t>(count + 1)}&gt;Increment&lt;/button&gt;</a:t>
            </a:r>
          </a:p>
          <a:p>
            <a:pPr marL="795528" lvl="2" indent="0">
              <a:buNone/>
            </a:pPr>
            <a:r>
              <a:rPr lang="en-IN" sz="1600" dirty="0"/>
              <a:t> &lt;/div&gt;</a:t>
            </a:r>
          </a:p>
          <a:p>
            <a:pPr marL="795528" lvl="2" indent="0">
              <a:buNone/>
            </a:pPr>
            <a:r>
              <a:rPr lang="en-IN" sz="1600" dirty="0"/>
              <a:t>  );</a:t>
            </a:r>
          </a:p>
          <a:p>
            <a:pPr marL="795528" lvl="2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	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9527-6028-7362-06A2-F05F1D2FC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583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F02A-94CB-F958-4440-7CA4A6993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636609"/>
            <a:ext cx="10511627" cy="5628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</a:t>
            </a:r>
            <a:r>
              <a:rPr lang="en-IN" sz="3200" dirty="0" err="1"/>
              <a:t>useEffect</a:t>
            </a:r>
            <a:endParaRPr lang="en-IN" sz="3200" dirty="0"/>
          </a:p>
          <a:p>
            <a:pPr algn="l" fontAlgn="base">
              <a:lnSpc>
                <a:spcPts val="2242"/>
              </a:lnSpc>
              <a:buNone/>
            </a:pPr>
            <a:r>
              <a:rPr lang="en-IN" sz="2400" dirty="0"/>
              <a:t>	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Used for fetching data, timers, subscriptions, etc. </a:t>
            </a:r>
          </a:p>
          <a:p>
            <a:pPr algn="l" fontAlgn="base">
              <a:lnSpc>
                <a:spcPts val="2242"/>
              </a:lnSpc>
              <a:buNone/>
            </a:pPr>
            <a:endParaRPr lang="en-US" sz="2400" b="0" i="0" dirty="0">
              <a:effectLst/>
              <a:latin typeface="Segoe UI" panose="020B0502040204020203" pitchFamily="34" charset="0"/>
            </a:endParaRPr>
          </a:p>
          <a:p>
            <a:pPr algn="l" fontAlgn="base">
              <a:lnSpc>
                <a:spcPts val="1898"/>
              </a:lnSpc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WordVisi_MSFontService"/>
              </a:rPr>
              <a:t>Handle Side Effects : 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Operations that affect things outside the component, like: 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fetching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DOM manipulation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Timer functions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Subscription management </a:t>
            </a: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Replace Lifecycle Methods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It combines the functionality of several class component lifecycle methods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componentDidMount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componentDidUpdate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 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componentWillUnmount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).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9EE1E-99FC-7D6E-44F9-B8415B78A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89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839-37C3-EB0C-9729-F0753DC2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0"/>
            <a:ext cx="10671048" cy="6736466"/>
          </a:xfrm>
        </p:spPr>
        <p:txBody>
          <a:bodyPr/>
          <a:lstStyle/>
          <a:p>
            <a:pPr algn="l"/>
            <a:r>
              <a:rPr lang="en-US" sz="1800" b="0" cap="none" dirty="0" err="1">
                <a:latin typeface="Amasis MT Pro" panose="020F0502020204030204" pitchFamily="18" charset="0"/>
              </a:rPr>
              <a:t>eg</a:t>
            </a:r>
            <a:r>
              <a:rPr lang="en-US" sz="1800" b="0" cap="none" dirty="0">
                <a:latin typeface="Amasis MT Pro" panose="020F0502020204030204" pitchFamily="18" charset="0"/>
              </a:rPr>
              <a:t>: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import { </a:t>
            </a:r>
            <a:r>
              <a:rPr lang="en-US" sz="1800" b="0" cap="none" dirty="0" err="1">
                <a:latin typeface="Amasis MT Pro" panose="020F0502020204030204" pitchFamily="18" charset="0"/>
              </a:rPr>
              <a:t>useeffect</a:t>
            </a:r>
            <a:r>
              <a:rPr lang="en-US" sz="1800" b="0" cap="none" dirty="0">
                <a:latin typeface="Amasis MT Pro" panose="020F0502020204030204" pitchFamily="18" charset="0"/>
              </a:rPr>
              <a:t>, </a:t>
            </a:r>
            <a:r>
              <a:rPr lang="en-US" sz="1800" b="0" cap="none" dirty="0" err="1">
                <a:latin typeface="Amasis MT Pro" panose="020F0502020204030204" pitchFamily="18" charset="0"/>
              </a:rPr>
              <a:t>usestate</a:t>
            </a:r>
            <a:r>
              <a:rPr lang="en-US" sz="1800" b="0" cap="none" dirty="0">
                <a:latin typeface="Amasis MT Pro" panose="020F0502020204030204" pitchFamily="18" charset="0"/>
              </a:rPr>
              <a:t> } from 'react’;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function Timer() {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 const [seconds, </a:t>
            </a:r>
            <a:r>
              <a:rPr lang="en-US" sz="1800" b="0" cap="none" dirty="0" err="1">
                <a:latin typeface="Amasis MT Pro" panose="020F0502020204030204" pitchFamily="18" charset="0"/>
              </a:rPr>
              <a:t>setSeconds</a:t>
            </a:r>
            <a:r>
              <a:rPr lang="en-US" sz="1800" b="0" cap="none" dirty="0">
                <a:latin typeface="Amasis MT Pro" panose="020F0502020204030204" pitchFamily="18" charset="0"/>
              </a:rPr>
              <a:t>] = </a:t>
            </a:r>
            <a:r>
              <a:rPr lang="en-US" sz="1800" b="0" cap="none" dirty="0" err="1">
                <a:latin typeface="Amasis MT Pro" panose="020F0502020204030204" pitchFamily="18" charset="0"/>
              </a:rPr>
              <a:t>useState</a:t>
            </a:r>
            <a:r>
              <a:rPr lang="en-US" sz="1800" b="0" cap="none" dirty="0">
                <a:latin typeface="Amasis MT Pro" panose="020F0502020204030204" pitchFamily="18" charset="0"/>
              </a:rPr>
              <a:t>(0); </a:t>
            </a:r>
            <a:r>
              <a:rPr lang="en-US" sz="1800" b="0" cap="none" dirty="0" err="1">
                <a:latin typeface="Amasis MT Pro" panose="020F0502020204030204" pitchFamily="18" charset="0"/>
              </a:rPr>
              <a:t>useEffect</a:t>
            </a:r>
            <a:r>
              <a:rPr lang="en-US" sz="1800" b="0" cap="none" dirty="0">
                <a:latin typeface="Amasis MT Pro" panose="020F0502020204030204" pitchFamily="18" charset="0"/>
              </a:rPr>
              <a:t>(() =&gt; {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   const interval = </a:t>
            </a:r>
            <a:r>
              <a:rPr lang="en-US" sz="1800" b="0" cap="none" dirty="0" err="1">
                <a:latin typeface="Amasis MT Pro" panose="020F0502020204030204" pitchFamily="18" charset="0"/>
              </a:rPr>
              <a:t>setInterval</a:t>
            </a:r>
            <a:r>
              <a:rPr lang="en-US" sz="1800" b="0" cap="none" dirty="0">
                <a:latin typeface="Amasis MT Pro" panose="020F0502020204030204" pitchFamily="18" charset="0"/>
              </a:rPr>
              <a:t>(() =&gt; {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     </a:t>
            </a:r>
            <a:r>
              <a:rPr lang="en-US" sz="1800" b="0" cap="none" dirty="0" err="1">
                <a:latin typeface="Amasis MT Pro" panose="020F0502020204030204" pitchFamily="18" charset="0"/>
              </a:rPr>
              <a:t>setSeconds</a:t>
            </a:r>
            <a:r>
              <a:rPr lang="en-US" sz="1800" b="0" cap="none" dirty="0">
                <a:latin typeface="Amasis MT Pro" panose="020F0502020204030204" pitchFamily="18" charset="0"/>
              </a:rPr>
              <a:t>((s) =&gt; s + 1);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   }, 1000);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return () =&gt; </a:t>
            </a:r>
            <a:r>
              <a:rPr lang="en-US" sz="1800" b="0" cap="none" dirty="0" err="1">
                <a:latin typeface="Amasis MT Pro" panose="020F0502020204030204" pitchFamily="18" charset="0"/>
              </a:rPr>
              <a:t>clearInterval</a:t>
            </a:r>
            <a:r>
              <a:rPr lang="en-US" sz="1800" b="0" cap="none" dirty="0">
                <a:latin typeface="Amasis MT Pro" panose="020F0502020204030204" pitchFamily="18" charset="0"/>
              </a:rPr>
              <a:t>(interval);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}, []);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 return &lt;p&gt;Timer: {seconds} seconds&lt;/p&gt;;</a:t>
            </a:r>
            <a:br>
              <a:rPr lang="en-US" sz="1800" b="0" cap="none" dirty="0">
                <a:latin typeface="Amasis MT Pro" panose="020F0502020204030204" pitchFamily="18" charset="0"/>
              </a:rPr>
            </a:br>
            <a:r>
              <a:rPr lang="en-US" sz="1800" b="0" cap="none" dirty="0">
                <a:latin typeface="Amasis MT Pro" panose="020F0502020204030204" pitchFamily="18" charset="0"/>
              </a:rPr>
              <a:t>}</a:t>
            </a:r>
            <a:endParaRPr lang="en-IN" sz="1600" b="0" cap="none" dirty="0">
              <a:latin typeface="Amasis MT Pro" panose="020F050202020403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F32F5-492E-4BBA-9802-AF5E1496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85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48FB-3217-20E7-09CC-1322983C5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2906" y="728797"/>
            <a:ext cx="10511627" cy="5810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3 . </a:t>
            </a:r>
            <a:r>
              <a:rPr lang="en-US" sz="3600" dirty="0" err="1"/>
              <a:t>useContext</a:t>
            </a:r>
            <a:endParaRPr lang="en-US" sz="3600" dirty="0"/>
          </a:p>
          <a:p>
            <a:pPr marL="0" indent="0">
              <a:buNone/>
            </a:pPr>
            <a:r>
              <a:rPr lang="en-US" sz="2400" dirty="0" err="1"/>
              <a:t>useContext</a:t>
            </a:r>
            <a:r>
              <a:rPr lang="en-US" sz="2400" dirty="0"/>
              <a:t> is a React hook that lets you share data between components without passing props through every level of your component tree.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b="1" i="0" dirty="0">
                <a:effectLst/>
                <a:latin typeface="Consolas" panose="020B0609020204030204" pitchFamily="49" charset="0"/>
              </a:rPr>
              <a:t>Key Features of </a:t>
            </a:r>
            <a:r>
              <a:rPr lang="en-US" sz="2800" b="1" i="0" dirty="0" err="1">
                <a:effectLst/>
                <a:latin typeface="Consolas" panose="020B0609020204030204" pitchFamily="49" charset="0"/>
              </a:rPr>
              <a:t>useContext</a:t>
            </a:r>
            <a:r>
              <a:rPr lang="en-US" sz="2800" b="1" i="0" dirty="0">
                <a:effectLst/>
                <a:latin typeface="Consolas" panose="020B0609020204030204" pitchFamily="49" charset="0"/>
              </a:rPr>
              <a:t>:</a:t>
            </a:r>
            <a:r>
              <a:rPr lang="en-US" sz="2800" b="0" i="0" dirty="0">
                <a:effectLst/>
                <a:latin typeface="Consolas" panose="020B0609020204030204" pitchFamily="49" charset="0"/>
              </a:rPr>
              <a:t> </a:t>
            </a:r>
            <a:endParaRPr lang="en-US" sz="2400" b="0" i="0" dirty="0">
              <a:effectLst/>
              <a:latin typeface="Consolas" panose="020B0609020204030204" pitchFamily="49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Avoids Prop Drilling</a:t>
            </a: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WordVisi_MSFontService"/>
              </a:rPr>
              <a:t>Global-like State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WordVisi_MSFontService"/>
              </a:rPr>
              <a:t>Dynamic Updates</a:t>
            </a:r>
            <a:endParaRPr lang="en-US" sz="2400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WordVisi_MSFontService"/>
              </a:rPr>
              <a:t>Multiple Contexts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WordVisi_MSFontService"/>
              </a:rPr>
              <a:t>Performance Optimization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92239-CCA6-77C5-822B-348C55754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91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89FE-59A7-3F04-6BD2-8FF8710C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0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Common Use Cases 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BD56D-0150-6440-75E9-FB4B14B951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800" b="1" i="0" dirty="0">
                <a:effectLst/>
                <a:latin typeface="Calibri" panose="020F0502020204030204" pitchFamily="34" charset="0"/>
              </a:rPr>
              <a:t>Theme settings</a:t>
            </a:r>
            <a:r>
              <a:rPr lang="en-US" sz="2800" b="0" i="0" dirty="0">
                <a:effectLst/>
                <a:latin typeface="Calibri" panose="020F0502020204030204" pitchFamily="34" charset="0"/>
              </a:rPr>
              <a:t>: Light/dark mode across your application </a:t>
            </a:r>
          </a:p>
          <a:p>
            <a:pPr algn="l" fontAlgn="base">
              <a:lnSpc>
                <a:spcPts val="2242"/>
              </a:lnSpc>
              <a:buNone/>
            </a:pPr>
            <a:r>
              <a:rPr lang="en-US" sz="2800" b="0" i="0" dirty="0">
                <a:effectLst/>
                <a:latin typeface="Calibri" panose="020F0502020204030204" pitchFamily="34" charset="0"/>
              </a:rPr>
              <a:t> User Authentication </a:t>
            </a:r>
          </a:p>
          <a:p>
            <a:pPr algn="l" fontAlgn="base">
              <a:lnSpc>
                <a:spcPts val="2242"/>
              </a:lnSpc>
              <a:buNone/>
            </a:pPr>
            <a:endParaRPr lang="en-US" sz="2400" b="0" i="0" dirty="0"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2242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means sharing information about whether a user is logged in</a:t>
            </a:r>
          </a:p>
          <a:p>
            <a:pPr marL="0" indent="0" algn="l" rtl="0" fontAlgn="base">
              <a:lnSpc>
                <a:spcPts val="2242"/>
              </a:lnSpc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their details across your entire app. 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EA2A1-1955-F113-097A-AE0DD1615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24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3FB5-25BC-98FB-ECEF-6EC7890A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react-router-</a:t>
            </a:r>
            <a:r>
              <a:rPr lang="en-IN" dirty="0" err="1"/>
              <a:t>dom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260E-778E-B26E-B686-24023CAA8CB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l" rtl="0" fontAlgn="base">
              <a:lnSpc>
                <a:spcPts val="1898"/>
              </a:lnSpc>
              <a:buNone/>
            </a:pPr>
            <a:r>
              <a:rPr lang="en-US" sz="2400" dirty="0"/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react-router-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is a library used for handling routing in React applications. </a:t>
            </a:r>
          </a:p>
          <a:p>
            <a:pPr algn="l" rtl="0" fontAlgn="base">
              <a:lnSpc>
                <a:spcPts val="1898"/>
              </a:lnSpc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It allows you to: 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Define multiple pages (components) within your app.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Navigate between pages without reloading the browser.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dynamic routing with route parameters (e.g.,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/product/:id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). 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Installation: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sz="24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</a:rPr>
              <a:t>npm</a:t>
            </a:r>
            <a:r>
              <a:rPr lang="en-US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</a:rPr>
              <a:t> install react-router-</a:t>
            </a:r>
            <a:r>
              <a:rPr lang="en-US" sz="24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</a:rPr>
              <a:t>dom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</a:rPr>
              <a:t> 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BB679-E887-1C16-13DF-77629F71A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99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F003-8598-1364-DFB3-3F716AE0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Routing (with URL Params)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5C9C-A13B-AAF6-3A0E-A444B2C6233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Dynamic routing allow you to capture values from the URL and use them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your application.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These values are often referred to as URL parameters or route params.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Eg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:</a:t>
            </a:r>
          </a:p>
          <a:p>
            <a:pPr lvl="1" fontAlgn="base">
              <a:lnSpc>
                <a:spcPts val="1898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/blog/1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1" fontAlgn="base">
              <a:lnSpc>
                <a:spcPts val="1898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/blog/2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1" fontAlgn="base">
              <a:lnSpc>
                <a:spcPts val="1898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/blog/hello-world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000" b="0" i="0" dirty="0">
                <a:effectLst/>
                <a:latin typeface="Calibri" panose="020F0502020204030204" pitchFamily="34" charset="0"/>
              </a:rPr>
              <a:t>Here, the part after 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/blog/</a:t>
            </a:r>
            <a:r>
              <a:rPr lang="en-US" sz="2000" b="0" i="0" dirty="0">
                <a:effectLst/>
                <a:latin typeface="Calibri" panose="020F0502020204030204" pitchFamily="34" charset="0"/>
              </a:rPr>
              <a:t> is </a:t>
            </a:r>
            <a:r>
              <a:rPr lang="en-US" sz="2000" b="1" i="0" dirty="0">
                <a:effectLst/>
                <a:latin typeface="Calibri" panose="020F0502020204030204" pitchFamily="34" charset="0"/>
              </a:rPr>
              <a:t>dynamic</a:t>
            </a:r>
            <a:r>
              <a:rPr lang="en-US" sz="2000" b="0" i="0" dirty="0">
                <a:effectLst/>
                <a:latin typeface="Calibri" panose="020F0502020204030204" pitchFamily="34" charset="0"/>
              </a:rPr>
              <a:t>.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459E-D32E-F982-093F-41C2DD0FB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85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7466-EBCE-9734-B85B-015E9E06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Nested Routing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43BB-4193-C6C4-97B4-D587A8CA4A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600" dirty="0"/>
              <a:t>Nested routing means that you can have </a:t>
            </a:r>
            <a:r>
              <a:rPr lang="en-US" sz="2600" b="1" dirty="0"/>
              <a:t>routes inside routes</a:t>
            </a:r>
            <a:r>
              <a:rPr lang="en-US" sz="2600" dirty="0"/>
              <a:t>.</a:t>
            </a:r>
          </a:p>
          <a:p>
            <a:endParaRPr lang="en-IN" sz="2600" dirty="0"/>
          </a:p>
          <a:p>
            <a:r>
              <a:rPr lang="en-US" sz="2600" dirty="0"/>
              <a:t>/services            -&gt; Services page (parent)</a:t>
            </a:r>
          </a:p>
          <a:p>
            <a:r>
              <a:rPr lang="en-US" sz="2600" dirty="0"/>
              <a:t>/services/web-dev    -&gt; Web Development (child)</a:t>
            </a:r>
          </a:p>
          <a:p>
            <a:r>
              <a:rPr lang="en-US" sz="2600" dirty="0"/>
              <a:t>/services/app-dev    -&gt; App Development (child)</a:t>
            </a:r>
          </a:p>
          <a:p>
            <a:endParaRPr lang="en-US" sz="2600" dirty="0"/>
          </a:p>
          <a:p>
            <a:r>
              <a:rPr lang="en-US" sz="2600" dirty="0"/>
              <a:t>Here, /services is the </a:t>
            </a:r>
            <a:r>
              <a:rPr lang="en-US" sz="2600" b="1" dirty="0"/>
              <a:t>parent route</a:t>
            </a:r>
            <a:r>
              <a:rPr lang="en-US" sz="2600" dirty="0"/>
              <a:t>, and /services/web-dev is a </a:t>
            </a:r>
            <a:r>
              <a:rPr lang="en-US" sz="2600" b="1" dirty="0"/>
              <a:t>nested child route</a:t>
            </a:r>
            <a:r>
              <a:rPr lang="en-US" sz="2600" dirty="0"/>
              <a:t>.</a:t>
            </a:r>
          </a:p>
          <a:p>
            <a:r>
              <a:rPr lang="en-US" sz="2600" dirty="0"/>
              <a:t>You can show child components inside the parent component using &lt;Outlet /&gt; from React Router.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782F-AFE3-FE19-23C5-4CBE50019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418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3A7E-8CAB-697D-4371-557AB08F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42278"/>
            <a:ext cx="10511627" cy="786487"/>
          </a:xfrm>
        </p:spPr>
        <p:txBody>
          <a:bodyPr/>
          <a:lstStyle/>
          <a:p>
            <a:r>
              <a:rPr lang="en-IN" dirty="0"/>
              <a:t>REACT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4664-CED5-E1EB-6061-3B9E9D965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3186" y="2316067"/>
            <a:ext cx="4324574" cy="3948557"/>
          </a:xfrm>
        </p:spPr>
        <p:txBody>
          <a:bodyPr/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Calibri" panose="020F0502020204030204" pitchFamily="34" charset="0"/>
              </a:rPr>
              <a:t>In React, when you're rendering a list of elements (like with 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.map()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), </a:t>
            </a:r>
            <a:r>
              <a:rPr lang="en-US" sz="2400" b="1" i="0" dirty="0">
                <a:effectLst/>
                <a:latin typeface="Calibri" panose="020F0502020204030204" pitchFamily="34" charset="0"/>
              </a:rPr>
              <a:t>each item must have a unique </a:t>
            </a:r>
            <a:r>
              <a:rPr lang="en-US" sz="2400" b="1" i="0" dirty="0">
                <a:effectLst/>
                <a:latin typeface="Consolas" panose="020B0609020204030204" pitchFamily="49" charset="0"/>
              </a:rPr>
              <a:t>key</a:t>
            </a:r>
            <a:r>
              <a:rPr lang="en-US" sz="2400" b="1" i="0" dirty="0">
                <a:effectLst/>
                <a:latin typeface="Calibri" panose="020F0502020204030204" pitchFamily="34" charset="0"/>
              </a:rPr>
              <a:t> prop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. 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42349-97FF-11F7-9BE6-0092E49F7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51606-A0C7-6997-F828-DCEB5D7A279C}"/>
              </a:ext>
            </a:extLst>
          </p:cNvPr>
          <p:cNvSpPr txBox="1"/>
          <p:nvPr/>
        </p:nvSpPr>
        <p:spPr>
          <a:xfrm>
            <a:off x="5256009" y="1990714"/>
            <a:ext cx="6104964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'Banana'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'Orange’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IN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(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1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))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&lt;/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en-IN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Items</a:t>
            </a: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IN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534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B4428-2D16-5B36-9E35-7D238785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Are Keys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5228-E189-480E-EFFC-AFFC51BEB0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l" rtl="0" fontAlgn="base">
              <a:lnSpc>
                <a:spcPts val="1898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React uses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virtual DOM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to efficiently update the browser DOM. When a list changes (items added/removed/moved), React needs a way to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identify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which elements changed.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Without a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React has to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re-render the entire list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unnecessarily.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fontAlgn="base">
              <a:lnSpc>
                <a:spcPts val="1898"/>
              </a:lnSpc>
              <a:buNone/>
            </a:pPr>
            <a:r>
              <a:rPr lang="en-US" sz="1800" b="0" i="0" dirty="0">
                <a:effectLst/>
                <a:latin typeface="Calibri" panose="020F0502020204030204" pitchFamily="34" charset="0"/>
              </a:rPr>
              <a:t>With a 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key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, React can: </a:t>
            </a:r>
            <a:endParaRPr lang="en-US" sz="2000" b="0" i="0" dirty="0"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Reuse existing DOM nodes.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Avoid unnecessary re-renders.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Improve performance.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47C81-6F5C-2E7F-74FF-302103A49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31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FF08-F1CA-7A1A-39A9-BFEDA2E8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10511627" cy="663950"/>
          </a:xfrm>
        </p:spPr>
        <p:txBody>
          <a:bodyPr/>
          <a:lstStyle/>
          <a:p>
            <a:r>
              <a:rPr lang="en-IN" dirty="0"/>
              <a:t>form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704F-147D-FC83-EB0F-3D78D2799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076227"/>
            <a:ext cx="10511627" cy="418839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Form validation in </a:t>
            </a:r>
            <a:r>
              <a:rPr lang="en-US" sz="2400" b="1" dirty="0"/>
              <a:t>React</a:t>
            </a:r>
            <a:r>
              <a:rPr lang="en-US" sz="2400" dirty="0"/>
              <a:t> ensures that user inputs meet certain criteria before submission. It improves user experience and prevents invalid or incomplete data from being processed or stored.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  <a:p>
            <a:pPr algn="l" fontAlgn="base">
              <a:lnSpc>
                <a:spcPts val="1898"/>
              </a:lnSpc>
              <a:buNone/>
            </a:pPr>
            <a:r>
              <a:rPr lang="en-US" sz="2400" b="0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Types of Form Validation :</a:t>
            </a:r>
            <a:endParaRPr lang="en-US" sz="2400" b="0" i="0" dirty="0">
              <a:solidFill>
                <a:srgbClr val="2E75B5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898"/>
              </a:lnSpc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Client-side validation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– Done in the browser using JavaScript before data is submitted. </a:t>
            </a:r>
          </a:p>
          <a:p>
            <a:pPr algn="l" rtl="0" fontAlgn="base">
              <a:lnSpc>
                <a:spcPts val="1898"/>
              </a:lnSpc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Server-side validation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– Done on the backend after form submission (usually as a backup). 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Calibri" panose="020F0502020204030204" pitchFamily="34" charset="0"/>
              </a:rPr>
              <a:t>React mainly handles </a:t>
            </a:r>
            <a:r>
              <a:rPr lang="en-US" sz="2400" b="1" i="0" dirty="0">
                <a:effectLst/>
                <a:latin typeface="Calibri" panose="020F0502020204030204" pitchFamily="34" charset="0"/>
              </a:rPr>
              <a:t>client-side validation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. 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5CFFF-9050-A428-AEE5-772C8A638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439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D4E5-9878-756E-E049-275865B0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471489"/>
          </a:xfrm>
        </p:spPr>
        <p:txBody>
          <a:bodyPr/>
          <a:lstStyle/>
          <a:p>
            <a:r>
              <a:rPr lang="en-US" sz="4000" b="1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 Common Validation Rules</a:t>
            </a:r>
            <a:r>
              <a:rPr lang="en-US" sz="4000" b="0" i="0" dirty="0">
                <a:solidFill>
                  <a:srgbClr val="2E75B5"/>
                </a:solidFill>
                <a:effectLst/>
                <a:latin typeface="Calibri" panose="020F0502020204030204" pitchFamily="34" charset="0"/>
              </a:rPr>
              <a:t> 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E8D8-D76F-FC88-C3F2-0245F796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990165"/>
            <a:ext cx="10511627" cy="4274459"/>
          </a:xfrm>
        </p:spPr>
        <p:txBody>
          <a:bodyPr/>
          <a:lstStyle/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Required fields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Email format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Minimum/maximum length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Numeric values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Matching passwords 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 rules (e.g., no special characters)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9F17-6921-3E79-18F1-1E77397C8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22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9701-1B1D-DD8E-6BCD-976C8AB9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84400"/>
            <a:ext cx="10671048" cy="1362057"/>
          </a:xfrm>
        </p:spPr>
        <p:txBody>
          <a:bodyPr/>
          <a:lstStyle/>
          <a:p>
            <a:r>
              <a:rPr lang="en-US" sz="4000" i="0" dirty="0">
                <a:solidFill>
                  <a:schemeClr val="accent6">
                    <a:lumMod val="75000"/>
                  </a:schemeClr>
                </a:solidFill>
                <a:effectLst/>
                <a:latin typeface="WordVisi_MSFontService"/>
              </a:rPr>
              <a:t>local storage and session storage </a:t>
            </a:r>
            <a:endParaRPr lang="en-IN" sz="4000" dirty="0">
              <a:solidFill>
                <a:schemeClr val="accent6">
                  <a:lumMod val="75000"/>
                </a:schemeClr>
              </a:solidFill>
              <a:latin typeface="WordVisi_MSFontServic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44F2C-8F4D-FD66-F577-18AE34A6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73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40E1-B7B5-D357-F087-EE2B03C6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3376"/>
            <a:ext cx="10511627" cy="935389"/>
          </a:xfrm>
        </p:spPr>
        <p:txBody>
          <a:bodyPr/>
          <a:lstStyle/>
          <a:p>
            <a:r>
              <a:rPr lang="en-US" sz="4000" i="0" dirty="0">
                <a:solidFill>
                  <a:schemeClr val="accent6">
                    <a:lumMod val="75000"/>
                  </a:schemeClr>
                </a:solidFill>
                <a:effectLst/>
                <a:latin typeface="WordVisi_MSFontService"/>
              </a:rPr>
              <a:t> local storage</a:t>
            </a:r>
            <a:endParaRPr lang="en-IN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457DA-0ED3-5255-F0CB-2EE4F7B0B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981201"/>
            <a:ext cx="10511627" cy="428342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Local storage</a:t>
            </a:r>
            <a:r>
              <a:rPr lang="en-US" sz="2400" dirty="0"/>
              <a:t> is like a small storage space in your </a:t>
            </a:r>
            <a:r>
              <a:rPr lang="en-US" sz="2400" b="1" dirty="0"/>
              <a:t>web browser</a:t>
            </a:r>
            <a:r>
              <a:rPr lang="en-US" sz="2400" dirty="0"/>
              <a:t> where websites can </a:t>
            </a:r>
            <a:r>
              <a:rPr lang="en-US" sz="2400" b="1" dirty="0"/>
              <a:t>save information</a:t>
            </a:r>
            <a:r>
              <a:rPr lang="en-US" sz="2400" dirty="0"/>
              <a:t>. This information stays there </a:t>
            </a:r>
            <a:r>
              <a:rPr lang="en-US" sz="2400" b="1" dirty="0"/>
              <a:t>even after you close the browser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Persistent storage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Data is 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not deleted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 when the browser is closed.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Storage capacity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Typically up to 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5–10 MB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 per origin (domain). </a:t>
            </a:r>
          </a:p>
          <a:p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Use case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Storing data like login tokens, theme preferences, cart items, etc. 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B36CD-348D-DEEA-AAB3-7078CC006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70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CF6E-A57E-1A5C-1295-C92A93AB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5069840"/>
          </a:xfrm>
        </p:spPr>
        <p:txBody>
          <a:bodyPr/>
          <a:lstStyle/>
          <a:p>
            <a:pPr rtl="0" fontAlgn="base">
              <a:lnSpc>
                <a:spcPts val="1898"/>
              </a:lnSpc>
            </a:pP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Set item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localstorage.Setitem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('username', 'john’); </a:t>
            </a:r>
            <a:b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get item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const username = 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localstorage.Getitem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('username’); </a:t>
            </a:r>
            <a:b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remove item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localstorage.Removeitem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('username’); </a:t>
            </a:r>
            <a:b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clear all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localstorage.Clear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(); </a:t>
            </a:r>
            <a:br>
              <a:rPr lang="en-US" sz="105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sz="2000" cap="non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54855B-3206-F180-8E96-7E2FF2A1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62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47A5-6938-649E-02B3-2CFFB9EA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10511627" cy="700406"/>
          </a:xfrm>
        </p:spPr>
        <p:txBody>
          <a:bodyPr/>
          <a:lstStyle/>
          <a:p>
            <a:r>
              <a:rPr lang="en-US" b="1" i="0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 Session Storage</a:t>
            </a:r>
            <a:r>
              <a:rPr lang="en-US" b="0" i="0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 </a:t>
            </a:r>
            <a:endParaRPr lang="en-IN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1122-5A64-9D88-A49E-99D6BFA36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4240" y="1886269"/>
            <a:ext cx="10511627" cy="4378356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Session storage</a:t>
            </a:r>
            <a:r>
              <a:rPr lang="en-US" sz="2400" dirty="0"/>
              <a:t> is like a </a:t>
            </a:r>
            <a:r>
              <a:rPr lang="en-US" sz="2400" b="1" dirty="0"/>
              <a:t>temporary storage box</a:t>
            </a:r>
            <a:r>
              <a:rPr lang="en-US" sz="2400" dirty="0"/>
              <a:t> in your </a:t>
            </a:r>
            <a:r>
              <a:rPr lang="en-US" sz="2400" b="1" dirty="0"/>
              <a:t>browser</a:t>
            </a:r>
            <a:r>
              <a:rPr lang="en-US" sz="2400" dirty="0"/>
              <a:t>. It stores information </a:t>
            </a:r>
            <a:r>
              <a:rPr lang="en-US" sz="2400" b="1" dirty="0"/>
              <a:t>only while the page is open</a:t>
            </a:r>
            <a:r>
              <a:rPr lang="en-US" sz="2400" dirty="0"/>
              <a:t>. Once you </a:t>
            </a:r>
            <a:r>
              <a:rPr lang="en-US" sz="2400" b="1" dirty="0"/>
              <a:t>close the tab or browser</a:t>
            </a:r>
            <a:r>
              <a:rPr lang="en-US" sz="2400" dirty="0"/>
              <a:t>, the data </a:t>
            </a:r>
            <a:r>
              <a:rPr lang="en-US" sz="2400" b="1" dirty="0"/>
              <a:t>disappears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Temporary storage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Data is 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cleared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 when the browser tab or window is closed.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Storage capacity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Similar to local storage (~5 MB). </a:t>
            </a:r>
          </a:p>
          <a:p>
            <a:pPr algn="l" rtl="0" fontAlgn="base">
              <a:lnSpc>
                <a:spcPts val="1898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Scope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: Data is available 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only in the current tab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. (</a:t>
            </a:r>
            <a:r>
              <a:rPr lang="en-US" sz="2400" dirty="0"/>
              <a:t>Other tabs can't access it (it’s</a:t>
            </a:r>
          </a:p>
          <a:p>
            <a:pPr marL="0" indent="0" algn="l" rtl="0" fontAlgn="base">
              <a:lnSpc>
                <a:spcPts val="1898"/>
              </a:lnSpc>
              <a:buNone/>
            </a:pPr>
            <a:r>
              <a:rPr lang="en-US" sz="2400" dirty="0"/>
              <a:t>     tab-specific).)</a:t>
            </a: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3EAD9-22F8-5F38-023D-2B927B1DC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88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F91D-1491-DF16-C571-66546008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4947920"/>
          </a:xfrm>
        </p:spPr>
        <p:txBody>
          <a:bodyPr/>
          <a:lstStyle/>
          <a:p>
            <a:pPr rtl="0" fontAlgn="base">
              <a:lnSpc>
                <a:spcPts val="1898"/>
              </a:lnSpc>
            </a:pP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Set item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sessionstorage.Setitem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sessionid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', '12345’); </a:t>
            </a:r>
            <a:b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get item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const 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sessionid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 = 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sessionstorage.Getitem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sessionid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’); </a:t>
            </a:r>
            <a:b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remove item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sessionstorage.Removeitem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('</a:t>
            </a: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sessionid</a:t>
            </a:r>
            <a:r>
              <a:rPr lang="en-US" sz="2400" b="0" i="0" cap="non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’); </a:t>
            </a:r>
            <a:br>
              <a:rPr lang="en-US" sz="2400" b="0" i="0" cap="non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clear </a:t>
            </a:r>
            <a:r>
              <a:rPr lang="en-US" sz="2400" b="0" i="0" cap="non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all </a:t>
            </a:r>
            <a:br>
              <a:rPr lang="en-US" sz="2400" b="0" i="0" cap="non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sessionstorage.Clear</a:t>
            </a:r>
            <a:r>
              <a:rPr lang="en-US" sz="2400" b="0" i="0" cap="non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(); </a:t>
            </a:r>
            <a:endParaRPr lang="en-US" sz="2400" b="0" i="0" cap="non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1062D-3690-ABAD-0007-FEE1F478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72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BDB9-ADCB-4414-8619-9C0C70EE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672" y="1554480"/>
            <a:ext cx="10671048" cy="3373120"/>
          </a:xfrm>
        </p:spPr>
        <p:txBody>
          <a:bodyPr/>
          <a:lstStyle/>
          <a:p>
            <a:r>
              <a:rPr lang="en-IN" sz="8000" b="1" dirty="0"/>
              <a:t>Axios</a:t>
            </a:r>
            <a:r>
              <a:rPr lang="en-IN" sz="80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E9E192-C8A1-3847-6FB5-E798AAD6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44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A23A-2CE1-29D2-A3B2-8402DB68B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554228"/>
            <a:ext cx="8757919" cy="734568"/>
          </a:xfrm>
        </p:spPr>
        <p:txBody>
          <a:bodyPr/>
          <a:lstStyle/>
          <a:p>
            <a:r>
              <a:rPr lang="en-US" b="1" dirty="0"/>
              <a:t>What is Axios in React?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DA573-4A6D-314A-B146-62F4A12F2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0" y="1757680"/>
            <a:ext cx="6858000" cy="4290568"/>
          </a:xfrm>
        </p:spPr>
        <p:txBody>
          <a:bodyPr>
            <a:normAutofit/>
          </a:bodyPr>
          <a:lstStyle/>
          <a:p>
            <a:r>
              <a:rPr lang="en-US" b="1" dirty="0"/>
              <a:t>Axios</a:t>
            </a:r>
            <a:r>
              <a:rPr lang="en-US" dirty="0"/>
              <a:t> is a popular JavaScript library used to make</a:t>
            </a:r>
          </a:p>
          <a:p>
            <a:r>
              <a:rPr lang="en-US" dirty="0"/>
              <a:t> </a:t>
            </a:r>
            <a:r>
              <a:rPr lang="en-US" b="1" dirty="0"/>
              <a:t>HTTP requests</a:t>
            </a:r>
            <a:r>
              <a:rPr lang="en-US" dirty="0"/>
              <a:t> from the browser (frontend) or</a:t>
            </a:r>
          </a:p>
          <a:p>
            <a:r>
              <a:rPr lang="en-US" dirty="0"/>
              <a:t> Node.js (backend). In a </a:t>
            </a:r>
            <a:r>
              <a:rPr lang="en-US" b="1" dirty="0"/>
              <a:t>React</a:t>
            </a:r>
            <a:r>
              <a:rPr lang="en-US" dirty="0"/>
              <a:t> application, Axios is</a:t>
            </a:r>
          </a:p>
          <a:p>
            <a:r>
              <a:rPr lang="en-US" dirty="0"/>
              <a:t> commonly used to </a:t>
            </a:r>
            <a:r>
              <a:rPr lang="en-US" b="1" dirty="0"/>
              <a:t>communicate with APIs</a:t>
            </a:r>
          </a:p>
          <a:p>
            <a:r>
              <a:rPr lang="en-US" dirty="0"/>
              <a:t>—sending data, retrieving data, or</a:t>
            </a:r>
          </a:p>
          <a:p>
            <a:r>
              <a:rPr lang="en-US" dirty="0"/>
              <a:t> deleting/updating records on a server.</a:t>
            </a:r>
          </a:p>
          <a:p>
            <a:endParaRPr lang="en-US" dirty="0"/>
          </a:p>
          <a:p>
            <a:r>
              <a:rPr lang="en-US" dirty="0"/>
              <a:t>Installation:</a:t>
            </a:r>
          </a:p>
          <a:p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npm</a:t>
            </a:r>
            <a:r>
              <a:rPr lang="en-IN" dirty="0">
                <a:solidFill>
                  <a:srgbClr val="FF0000"/>
                </a:solidFill>
              </a:rPr>
              <a:t> install </a:t>
            </a:r>
            <a:r>
              <a:rPr lang="en-IN" dirty="0" err="1">
                <a:solidFill>
                  <a:srgbClr val="FF0000"/>
                </a:solidFill>
              </a:rPr>
              <a:t>axios</a:t>
            </a:r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023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CED7-42D6-A590-CEF8-3BD72293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60" y="477520"/>
            <a:ext cx="10399867" cy="5323207"/>
          </a:xfrm>
        </p:spPr>
        <p:txBody>
          <a:bodyPr anchor="t"/>
          <a:lstStyle/>
          <a:p>
            <a:pPr fontAlgn="base">
              <a:lnSpc>
                <a:spcPts val="1898"/>
              </a:lnSpc>
            </a:pPr>
            <a:br>
              <a:rPr lang="en-US" sz="2400" b="0" i="0" cap="none" dirty="0">
                <a:effectLst/>
                <a:latin typeface="Calibri" panose="020F0502020204030204" pitchFamily="34" charset="0"/>
              </a:rPr>
            </a:br>
            <a:r>
              <a:rPr lang="en-US" sz="1800" b="1" i="0" cap="none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en-US" sz="1800" b="1" i="0" cap="none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</a:br>
            <a:r>
              <a:rPr lang="en-US" b="1" i="0" cap="none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Why use </a:t>
            </a:r>
            <a:r>
              <a:rPr lang="en-US" b="1" i="0" cap="none" dirty="0" err="1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axios</a:t>
            </a:r>
            <a:r>
              <a:rPr lang="en-US" b="1" i="0" cap="none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 in react?</a:t>
            </a:r>
            <a:r>
              <a:rPr lang="en-US" b="0" i="0" cap="none" dirty="0">
                <a:solidFill>
                  <a:srgbClr val="1F3763"/>
                </a:solidFill>
                <a:effectLst/>
                <a:latin typeface="WordVisiCarriageReturn_MSFontService"/>
              </a:rPr>
              <a:t> </a:t>
            </a:r>
            <a:br>
              <a:rPr lang="en-US" b="0" i="0" cap="none" dirty="0">
                <a:solidFill>
                  <a:srgbClr val="1F3763"/>
                </a:solidFill>
                <a:effectLst/>
                <a:latin typeface="WordVisiCarriageReturn_MSFontService"/>
              </a:rPr>
            </a:br>
            <a:br>
              <a:rPr lang="en-US" sz="1800" b="0" i="0" cap="none" dirty="0">
                <a:solidFill>
                  <a:srgbClr val="1F3763"/>
                </a:solidFill>
                <a:effectLst/>
                <a:latin typeface="WordVisiCarriageReturn_MSFontService"/>
              </a:rPr>
            </a:br>
            <a:br>
              <a:rPr lang="en-US" sz="2400" b="0" i="0" cap="none" dirty="0"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effectLst/>
                <a:latin typeface="Calibri" panose="020F0502020204030204" pitchFamily="34" charset="0"/>
              </a:rPr>
              <a:t>When making react apps, we often need to: </a:t>
            </a:r>
            <a:br>
              <a:rPr lang="en-US" sz="2400" b="0" i="0" cap="none" dirty="0"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effectLst/>
                <a:latin typeface="Segoe UI" panose="020B0502040204020203" pitchFamily="34" charset="0"/>
              </a:rPr>
            </a:br>
            <a:r>
              <a:rPr lang="en-US" sz="2400" b="0" i="0" cap="none" dirty="0">
                <a:effectLst/>
                <a:latin typeface="Segoe UI" panose="020B0502040204020203" pitchFamily="34" charset="0"/>
              </a:rPr>
              <a:t>1. </a:t>
            </a:r>
            <a: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get data</a:t>
            </a: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from an API (like showing products or users),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send data</a:t>
            </a: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to the server (like when someone fills a form), 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show loading or error messages</a:t>
            </a: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while waiting for a response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1" i="0" cap="non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axios</a:t>
            </a: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makes all of this </a:t>
            </a:r>
            <a: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easy to write, clean to read, and simple to</a:t>
            </a:r>
            <a:b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2400" b="1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manage</a:t>
            </a:r>
            <a:r>
              <a:rPr lang="en-US" sz="2400" b="0" i="0" cap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br>
              <a:rPr lang="en-US" sz="2400" b="0" i="0" cap="non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sz="2400" cap="none" dirty="0"/>
          </a:p>
        </p:txBody>
      </p:sp>
    </p:spTree>
    <p:extLst>
      <p:ext uri="{BB962C8B-B14F-4D97-AF65-F5344CB8AC3E}">
        <p14:creationId xmlns:p14="http://schemas.microsoft.com/office/powerpoint/2010/main" val="259551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57EB-9AF7-8463-7833-733D1EEA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679205"/>
          </a:xfrm>
        </p:spPr>
        <p:txBody>
          <a:bodyPr/>
          <a:lstStyle/>
          <a:p>
            <a:pPr algn="ctr"/>
            <a:r>
              <a:rPr lang="en-US" sz="4800" i="0" dirty="0">
                <a:solidFill>
                  <a:srgbClr val="1F3763"/>
                </a:solidFill>
                <a:effectLst/>
                <a:latin typeface="Calibri" panose="020F0502020204030204" pitchFamily="34" charset="0"/>
              </a:rPr>
              <a:t>Features of Axios </a:t>
            </a:r>
            <a:endParaRPr lang="en-IN" sz="4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B111FC-B290-9523-82A3-93377B4B6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97B25-01C2-D120-E676-457F9888C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911600" cy="372033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Promise-based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Supports HTTP Methods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Automatic JSON Data Transformation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Request and Response Interceptors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Cancel Requests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  <a:endParaRPr lang="en-US" sz="2400" dirty="0">
              <a:latin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E75822-0F0D-6570-C321-617293966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17439" y="2303027"/>
            <a:ext cx="3721761" cy="372033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Custom Headers Support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Timeout Handling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Global Configuration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Calibri" panose="020F0502020204030204" pitchFamily="34" charset="0"/>
              </a:rPr>
              <a:t>Supports File Uploads</a:t>
            </a:r>
            <a:r>
              <a:rPr lang="en-US" sz="2400" b="0" i="0" dirty="0">
                <a:effectLst/>
                <a:latin typeface="Calibri" panose="020F0502020204030204" pitchFamily="34" charset="0"/>
              </a:rPr>
              <a:t>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1013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3916-9172-7D1E-CBB5-011EF14B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2431228"/>
            <a:ext cx="10671048" cy="1362057"/>
          </a:xfrm>
        </p:spPr>
        <p:txBody>
          <a:bodyPr/>
          <a:lstStyle/>
          <a:p>
            <a:r>
              <a:rPr lang="en-US" sz="5400" dirty="0"/>
              <a:t>MongoDB</a:t>
            </a:r>
            <a:endParaRPr lang="en-IN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2FA20-7598-B7AE-31EB-9E47537F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2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E982-6712-7BDE-DACF-939CD0C6F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186" y="419477"/>
            <a:ext cx="6680499" cy="1936448"/>
          </a:xfrm>
        </p:spPr>
        <p:txBody>
          <a:bodyPr/>
          <a:lstStyle/>
          <a:p>
            <a:r>
              <a:rPr lang="en-US" sz="2400" b="1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</a:t>
            </a:r>
            <a: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US" sz="2400" b="1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nosql</a:t>
            </a:r>
            <a: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document-oriented database.</a:t>
            </a:r>
            <a:b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storing data in rows and tables (like SQL), </a:t>
            </a:r>
            <a:r>
              <a:rPr lang="en-US" sz="240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</a:t>
            </a:r>
            <a: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data in </a:t>
            </a:r>
            <a:r>
              <a:rPr lang="en-US" sz="24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flexible, </a:t>
            </a:r>
            <a:r>
              <a:rPr lang="en-US" sz="2400" b="1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en-US" sz="24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-like documents</a:t>
            </a:r>
            <a:r>
              <a:rPr lang="en-US" sz="24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(called BSON).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74DFE-7488-F36A-5F8A-695FC1755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247" y="2355925"/>
            <a:ext cx="6465346" cy="40825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MongoDB Data Types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(BSON types):</a:t>
            </a:r>
          </a:p>
          <a:p>
            <a:endParaRPr lang="en-IN" dirty="0"/>
          </a:p>
          <a:p>
            <a:r>
              <a:rPr lang="en-US" sz="2000" dirty="0"/>
              <a:t>String :  Text values</a:t>
            </a:r>
          </a:p>
          <a:p>
            <a:r>
              <a:rPr lang="en-US" sz="2000" dirty="0"/>
              <a:t>Number : Integer or floating point</a:t>
            </a:r>
          </a:p>
          <a:p>
            <a:r>
              <a:rPr lang="en-US" sz="2000" dirty="0"/>
              <a:t>Boolean : true / false</a:t>
            </a:r>
          </a:p>
          <a:p>
            <a:r>
              <a:rPr lang="en-US" sz="2000" dirty="0"/>
              <a:t>Array :  list of values</a:t>
            </a:r>
          </a:p>
          <a:p>
            <a:r>
              <a:rPr lang="en-US" sz="2000" dirty="0"/>
              <a:t>Object :  Embedded document (nested object)</a:t>
            </a:r>
          </a:p>
          <a:p>
            <a:r>
              <a:rPr lang="en-US" sz="2000" dirty="0"/>
              <a:t>Date :  Date &amp; time</a:t>
            </a:r>
          </a:p>
          <a:p>
            <a:r>
              <a:rPr lang="en-US" sz="2000" dirty="0" err="1"/>
              <a:t>ObjectId</a:t>
            </a:r>
            <a:r>
              <a:rPr lang="en-US" sz="2000" dirty="0"/>
              <a:t> : Unique ID (automatically created)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660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3718-E1E8-428B-EED9-FFCF8F2A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15" y="419548"/>
            <a:ext cx="10490112" cy="5540187"/>
          </a:xfrm>
        </p:spPr>
        <p:txBody>
          <a:bodyPr anchor="t"/>
          <a:lstStyle/>
          <a:p>
            <a:r>
              <a:rPr lang="en-US" sz="2800" dirty="0"/>
              <a:t>EXAMPLE</a:t>
            </a:r>
            <a:br>
              <a:rPr lang="en-US" sz="2800" dirty="0"/>
            </a:br>
            <a:br>
              <a:rPr lang="en-US" sz="2800" dirty="0"/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"_Id": 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objectid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("5f50c31f1c9d440000a1b234"),   // 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objectid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"name": "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alice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                             // string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"age": 25,                                    // number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isstudent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true,                            // 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"courses": ["math", "physics"],               // array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"address": {                                  // object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"city": "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kochi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"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pincode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682001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},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</a:t>
            </a:r>
            <a:r>
              <a:rPr lang="en-US" sz="2400" b="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createdat</a:t>
            </a: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": new date("2024-04-20t10:00:00z") // date</a:t>
            </a:r>
            <a:b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br>
              <a:rPr lang="en-US" sz="2000" b="0" cap="none" dirty="0"/>
            </a:b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4216610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72EB-9FD6-FF71-8B5E-ADB4CE7A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746" y="649994"/>
            <a:ext cx="8779645" cy="814557"/>
          </a:xfrm>
        </p:spPr>
        <p:txBody>
          <a:bodyPr/>
          <a:lstStyle/>
          <a:p>
            <a:r>
              <a:rPr lang="en-US" dirty="0"/>
              <a:t>CRUD Operations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1CD6-3FF7-6C44-6BF3-96DC6D405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5322" y="1775012"/>
            <a:ext cx="8510703" cy="443299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CRUD stand for </a:t>
            </a:r>
          </a:p>
          <a:p>
            <a:pPr marL="338328" lvl="1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7EC56-0B67-59EA-7F23-DEECFBC75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174344-5914-88AC-D289-041F9A269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14473"/>
              </p:ext>
            </p:extLst>
          </p:nvPr>
        </p:nvGraphicFramePr>
        <p:xfrm>
          <a:off x="2915322" y="2489800"/>
          <a:ext cx="8128000" cy="309850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310868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96964746"/>
                    </a:ext>
                  </a:extLst>
                </a:gridCol>
              </a:tblGrid>
              <a:tr h="619701">
                <a:tc>
                  <a:txBody>
                    <a:bodyPr/>
                    <a:lstStyle/>
                    <a:p>
                      <a:r>
                        <a:rPr lang="en-IN" sz="2000" b="1" dirty="0"/>
                        <a:t>Operation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Description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992461"/>
                  </a:ext>
                </a:extLst>
              </a:tr>
              <a:tr h="619701">
                <a:tc>
                  <a:txBody>
                    <a:bodyPr/>
                    <a:lstStyle/>
                    <a:p>
                      <a:r>
                        <a:rPr lang="en-IN" b="1" dirty="0"/>
                        <a:t>C</a:t>
                      </a:r>
                      <a:r>
                        <a:rPr lang="en-IN" dirty="0"/>
                        <a:t> - 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new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092505"/>
                  </a:ext>
                </a:extLst>
              </a:tr>
              <a:tr h="619701">
                <a:tc>
                  <a:txBody>
                    <a:bodyPr/>
                    <a:lstStyle/>
                    <a:p>
                      <a:r>
                        <a:rPr lang="en-IN" b="1" dirty="0"/>
                        <a:t>R</a:t>
                      </a:r>
                      <a:r>
                        <a:rPr lang="en-IN" dirty="0"/>
                        <a:t> - 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Get existing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57194"/>
                  </a:ext>
                </a:extLst>
              </a:tr>
              <a:tr h="619701">
                <a:tc>
                  <a:txBody>
                    <a:bodyPr/>
                    <a:lstStyle/>
                    <a:p>
                      <a:r>
                        <a:rPr lang="en-IN" b="1" dirty="0"/>
                        <a:t>U</a:t>
                      </a:r>
                      <a:r>
                        <a:rPr lang="en-IN" dirty="0"/>
                        <a:t> -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Modify existing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956169"/>
                  </a:ext>
                </a:extLst>
              </a:tr>
              <a:tr h="619701">
                <a:tc>
                  <a:txBody>
                    <a:bodyPr/>
                    <a:lstStyle/>
                    <a:p>
                      <a:r>
                        <a:rPr lang="en-IN" b="1" dirty="0"/>
                        <a:t>D</a:t>
                      </a:r>
                      <a:r>
                        <a:rPr lang="en-IN" dirty="0"/>
                        <a:t> – 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Remove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73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8804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90D5-A99D-B3C2-796A-EBFAC678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10176735" cy="663949"/>
          </a:xfrm>
        </p:spPr>
        <p:txBody>
          <a:bodyPr/>
          <a:lstStyle/>
          <a:p>
            <a:r>
              <a:rPr lang="en-US" dirty="0"/>
              <a:t>CREATE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5CCF-4D02-0A3D-4B33-109CDB49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492" y="2119257"/>
            <a:ext cx="5259554" cy="4184724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db.collection.insertOne</a:t>
            </a:r>
            <a:r>
              <a:rPr lang="en-US" sz="2800" b="1" dirty="0"/>
              <a:t>()</a:t>
            </a:r>
          </a:p>
          <a:p>
            <a:endParaRPr lang="en-US" b="1" dirty="0"/>
          </a:p>
          <a:p>
            <a:r>
              <a:rPr lang="en-US" sz="2400" b="1" dirty="0"/>
              <a:t>As the name indicates, </a:t>
            </a:r>
            <a:r>
              <a:rPr lang="en-US" sz="2400" b="1" dirty="0" err="1"/>
              <a:t>insertOne</a:t>
            </a:r>
            <a:r>
              <a:rPr lang="en-US" sz="2400" b="1" dirty="0"/>
              <a:t>() allows you to insert one document into the collection</a:t>
            </a:r>
          </a:p>
          <a:p>
            <a:endParaRPr lang="en-US" sz="2400" b="1" dirty="0"/>
          </a:p>
          <a:p>
            <a:r>
              <a:rPr lang="en-US" sz="2400" b="1" dirty="0" err="1"/>
              <a:t>db.users.insertOne</a:t>
            </a:r>
            <a:r>
              <a:rPr lang="en-US" sz="2400" b="1" dirty="0"/>
              <a:t>({</a:t>
            </a:r>
          </a:p>
          <a:p>
            <a:r>
              <a:rPr lang="en-US" sz="2400" b="1" dirty="0"/>
              <a:t>  name: "Alice",</a:t>
            </a:r>
          </a:p>
          <a:p>
            <a:r>
              <a:rPr lang="en-US" sz="2400" b="1" dirty="0"/>
              <a:t>  age: 25,</a:t>
            </a:r>
          </a:p>
          <a:p>
            <a:r>
              <a:rPr lang="en-US" sz="2400" b="1" dirty="0"/>
              <a:t>  email: "alice@example.com"</a:t>
            </a:r>
          </a:p>
          <a:p>
            <a:r>
              <a:rPr lang="en-US" sz="2400" b="1" dirty="0"/>
              <a:t>});</a:t>
            </a: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E91E8E-2D2F-0774-44EF-B7B0D0A6020C}"/>
              </a:ext>
            </a:extLst>
          </p:cNvPr>
          <p:cNvSpPr txBox="1">
            <a:spLocks/>
          </p:cNvSpPr>
          <p:nvPr/>
        </p:nvSpPr>
        <p:spPr>
          <a:xfrm>
            <a:off x="6002766" y="2119256"/>
            <a:ext cx="5259554" cy="4270785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/>
              <a:t>db.collection.insertMany</a:t>
            </a:r>
            <a:r>
              <a:rPr lang="en-US" sz="2800" b="1" dirty="0"/>
              <a:t>()</a:t>
            </a:r>
          </a:p>
          <a:p>
            <a:endParaRPr lang="en-US" b="1" dirty="0"/>
          </a:p>
          <a:p>
            <a:r>
              <a:rPr lang="en-US" b="1" dirty="0"/>
              <a:t>It's possible to insert multiple items at one time by calling the </a:t>
            </a:r>
            <a:r>
              <a:rPr lang="en-US" b="1" dirty="0" err="1"/>
              <a:t>insertMany</a:t>
            </a:r>
            <a:r>
              <a:rPr lang="en-US" b="1" dirty="0"/>
              <a:t>() method on the desired collection</a:t>
            </a:r>
          </a:p>
          <a:p>
            <a:endParaRPr lang="en-US" b="1" dirty="0"/>
          </a:p>
          <a:p>
            <a:r>
              <a:rPr lang="en-US" b="1" dirty="0" err="1"/>
              <a:t>db.users.insertMany</a:t>
            </a:r>
            <a:r>
              <a:rPr lang="en-US" b="1" dirty="0"/>
              <a:t>([</a:t>
            </a:r>
          </a:p>
          <a:p>
            <a:r>
              <a:rPr lang="en-US" b="1" dirty="0"/>
              <a:t>  { name: "Bob", age: 30 },</a:t>
            </a:r>
          </a:p>
          <a:p>
            <a:r>
              <a:rPr lang="en-US" b="1" dirty="0"/>
              <a:t>  { name: "Charlie", age: 22 }</a:t>
            </a:r>
          </a:p>
          <a:p>
            <a:r>
              <a:rPr lang="en-US" b="1" dirty="0"/>
              <a:t>]);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027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2D65-C752-973A-F92E-B6596ED3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10511627" cy="717738"/>
          </a:xfrm>
        </p:spPr>
        <p:txBody>
          <a:bodyPr/>
          <a:lstStyle/>
          <a:p>
            <a:r>
              <a:rPr lang="en-US" dirty="0"/>
              <a:t>Read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2E28-5168-4891-9862-AF38215C1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15614" y="2617281"/>
            <a:ext cx="4793465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db.collection.find</a:t>
            </a:r>
            <a:r>
              <a:rPr lang="en-US" sz="28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To get all the documents from a collection.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Eg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b="1" dirty="0" err="1"/>
              <a:t>db.users.find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C663-1934-EDE3-72A1-3072D5C62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C49E94-2393-5D85-2943-B2F371D64183}"/>
              </a:ext>
            </a:extLst>
          </p:cNvPr>
          <p:cNvSpPr txBox="1">
            <a:spLocks/>
          </p:cNvSpPr>
          <p:nvPr/>
        </p:nvSpPr>
        <p:spPr>
          <a:xfrm>
            <a:off x="6361357" y="2509705"/>
            <a:ext cx="4880501" cy="394855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 err="1"/>
              <a:t>db.collection.findOne</a:t>
            </a:r>
            <a:r>
              <a:rPr lang="en-US" sz="2800" b="1" dirty="0"/>
              <a:t>()</a:t>
            </a:r>
          </a:p>
          <a:p>
            <a:pPr marL="0" indent="0">
              <a:buNone/>
            </a:pPr>
            <a:r>
              <a:rPr lang="en-US" sz="2400" dirty="0"/>
              <a:t>To get one document that satisfies the search criteria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800" dirty="0"/>
          </a:p>
          <a:p>
            <a:pPr marL="0" indent="0">
              <a:buNone/>
            </a:pPr>
            <a:r>
              <a:rPr lang="en-US" sz="2400" b="1" dirty="0" err="1"/>
              <a:t>Eg</a:t>
            </a:r>
            <a:r>
              <a:rPr lang="en-US" sz="2400" b="1" dirty="0"/>
              <a:t>: </a:t>
            </a:r>
          </a:p>
          <a:p>
            <a:pPr marL="338328" lvl="1" indent="0">
              <a:buNone/>
            </a:pPr>
            <a:r>
              <a:rPr lang="en-US" sz="2400" b="1" dirty="0" err="1"/>
              <a:t>db.users.find</a:t>
            </a:r>
            <a:r>
              <a:rPr lang="en-US" sz="2400" b="1" dirty="0"/>
              <a:t>({ age: { $</a:t>
            </a:r>
            <a:r>
              <a:rPr lang="en-US" sz="2400" b="1" dirty="0" err="1"/>
              <a:t>gt</a:t>
            </a:r>
            <a:r>
              <a:rPr lang="en-US" sz="2400" b="1" dirty="0"/>
              <a:t>: 23 } }); // age &gt; 23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598634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0E7B-8C3E-C76E-BD2E-6B5ED97D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10370372" cy="739252"/>
          </a:xfrm>
        </p:spPr>
        <p:txBody>
          <a:bodyPr/>
          <a:lstStyle/>
          <a:p>
            <a:r>
              <a:rPr lang="en-US" dirty="0"/>
              <a:t>UPDATE OPERATION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77BA3-B118-9828-AB2B-CBC50C066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265" y="2259106"/>
            <a:ext cx="5342964" cy="4044875"/>
          </a:xfrm>
        </p:spPr>
        <p:txBody>
          <a:bodyPr/>
          <a:lstStyle/>
          <a:p>
            <a:r>
              <a:rPr lang="en-US" sz="2800" b="1" dirty="0" err="1"/>
              <a:t>db.collection.updateMany</a:t>
            </a:r>
            <a:r>
              <a:rPr lang="en-US" sz="2800" b="1" dirty="0"/>
              <a:t>()</a:t>
            </a:r>
          </a:p>
          <a:p>
            <a:endParaRPr lang="en-US" b="1" dirty="0"/>
          </a:p>
          <a:p>
            <a:r>
              <a:rPr lang="en-US" sz="2000" b="1" dirty="0" err="1"/>
              <a:t>updateMany</a:t>
            </a:r>
            <a:r>
              <a:rPr lang="en-US" sz="2000" b="1" dirty="0"/>
              <a:t>() allows us to update multiple items by passing in a list of items, just as we did when inserting multiple items.</a:t>
            </a:r>
          </a:p>
          <a:p>
            <a:endParaRPr lang="en-US" sz="2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: </a:t>
            </a:r>
          </a:p>
          <a:p>
            <a:r>
              <a:rPr lang="en-US" sz="2000" b="1" dirty="0" err="1"/>
              <a:t>db.users.updateMany</a:t>
            </a:r>
            <a:r>
              <a:rPr lang="en-US" sz="2000" b="1" dirty="0"/>
              <a:t>(</a:t>
            </a:r>
          </a:p>
          <a:p>
            <a:r>
              <a:rPr lang="en-US" sz="2000" b="1" dirty="0"/>
              <a:t>  { city: "Delhi" },</a:t>
            </a:r>
          </a:p>
          <a:p>
            <a:r>
              <a:rPr lang="en-US" sz="2000" b="1" dirty="0"/>
              <a:t>  { $set: { verified: true } }</a:t>
            </a:r>
          </a:p>
          <a:p>
            <a:r>
              <a:rPr lang="en-US" sz="2000" b="1" dirty="0"/>
              <a:t>);</a:t>
            </a:r>
          </a:p>
          <a:p>
            <a:endParaRPr lang="en-US" sz="2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D3A2BB-E815-86A4-3872-D97F5DCC4F36}"/>
              </a:ext>
            </a:extLst>
          </p:cNvPr>
          <p:cNvSpPr txBox="1">
            <a:spLocks/>
          </p:cNvSpPr>
          <p:nvPr/>
        </p:nvSpPr>
        <p:spPr>
          <a:xfrm>
            <a:off x="1011219" y="2259106"/>
            <a:ext cx="4948518" cy="4044875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/>
              <a:t>db.collection.updateOne</a:t>
            </a:r>
            <a:r>
              <a:rPr lang="en-US" sz="2800" b="1" dirty="0"/>
              <a:t>() </a:t>
            </a:r>
          </a:p>
          <a:p>
            <a:endParaRPr lang="en-IN" dirty="0"/>
          </a:p>
          <a:p>
            <a:r>
              <a:rPr lang="en-US" sz="2000" b="1" dirty="0"/>
              <a:t>Select a collection and </a:t>
            </a:r>
            <a:r>
              <a:rPr lang="en-US" sz="2000" b="1" dirty="0" err="1"/>
              <a:t>updateSelect</a:t>
            </a:r>
            <a:r>
              <a:rPr lang="en-US" sz="2000" b="1" dirty="0"/>
              <a:t> a collection and update</a:t>
            </a:r>
          </a:p>
          <a:p>
            <a:endParaRPr lang="en-US" sz="2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:</a:t>
            </a:r>
          </a:p>
          <a:p>
            <a:endParaRPr lang="en-US" sz="2000" b="1" dirty="0"/>
          </a:p>
          <a:p>
            <a:r>
              <a:rPr lang="en-US" sz="2000" b="1" dirty="0" err="1"/>
              <a:t>db.users.updateOne</a:t>
            </a:r>
            <a:r>
              <a:rPr lang="en-US" sz="2000" b="1" dirty="0"/>
              <a:t>(</a:t>
            </a:r>
          </a:p>
          <a:p>
            <a:r>
              <a:rPr lang="en-US" sz="2000" b="1" dirty="0"/>
              <a:t>  { city: "Delhi" },</a:t>
            </a:r>
          </a:p>
          <a:p>
            <a:r>
              <a:rPr lang="en-US" sz="2000" b="1" dirty="0"/>
              <a:t>  { $set: { verified: true } }</a:t>
            </a:r>
          </a:p>
          <a:p>
            <a:r>
              <a:rPr lang="en-US" sz="2000" b="1" dirty="0"/>
              <a:t>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410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7665-3F71-2CC8-2368-6ED254EE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6F55-308A-FE52-8B1C-05A747E63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9300" y="2468467"/>
            <a:ext cx="4930587" cy="379615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err="1"/>
              <a:t>db.collection.deleteOne</a:t>
            </a:r>
            <a:r>
              <a:rPr lang="en-US" sz="2800" b="1" dirty="0"/>
              <a:t>()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 err="1"/>
              <a:t>deleteOne</a:t>
            </a:r>
            <a:r>
              <a:rPr lang="en-US" sz="2000" b="1" dirty="0"/>
              <a:t>() removes a document from a specified collection on the MongoDB server.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err="1"/>
              <a:t>Eg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r>
              <a:rPr lang="en-US" sz="2000" b="1" dirty="0" err="1"/>
              <a:t>db.users.deleteOne</a:t>
            </a:r>
            <a:r>
              <a:rPr lang="en-US" sz="2000" b="1" dirty="0"/>
              <a:t>({ name: "Charlie" });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D96B7-1BC6-A298-EDF1-B75F3DA64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5F501C-57E4-AFF2-C8DC-51AAB189B7C1}"/>
              </a:ext>
            </a:extLst>
          </p:cNvPr>
          <p:cNvSpPr txBox="1">
            <a:spLocks/>
          </p:cNvSpPr>
          <p:nvPr/>
        </p:nvSpPr>
        <p:spPr>
          <a:xfrm>
            <a:off x="6207162" y="2468467"/>
            <a:ext cx="4817634" cy="394855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 err="1"/>
              <a:t>db.collection.deleteMany</a:t>
            </a:r>
            <a:r>
              <a:rPr lang="en-US" sz="2800" b="1" dirty="0"/>
              <a:t>()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 err="1"/>
              <a:t>deleteMany</a:t>
            </a:r>
            <a:r>
              <a:rPr lang="en-US" sz="2000" b="1" dirty="0"/>
              <a:t>() is a method used to delete multiple documents from a desired collection with a single delete operation.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err="1"/>
              <a:t>Eg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r>
              <a:rPr lang="en-US" sz="2000" b="1" dirty="0" err="1"/>
              <a:t>db.users.deleteMany</a:t>
            </a:r>
            <a:r>
              <a:rPr lang="en-US" sz="2000" b="1" dirty="0"/>
              <a:t>({ age: { $</a:t>
            </a:r>
            <a:r>
              <a:rPr lang="en-US" sz="2000" b="1" dirty="0" err="1"/>
              <a:t>lt</a:t>
            </a:r>
            <a:r>
              <a:rPr lang="en-US" sz="2000" b="1" dirty="0"/>
              <a:t>: 25 } });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1682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Fathima </a:t>
            </a:r>
            <a:r>
              <a:rPr lang="en-US" dirty="0" err="1"/>
              <a:t>Nihala</a:t>
            </a:r>
            <a:endParaRPr lang="en-US" dirty="0"/>
          </a:p>
          <a:p>
            <a:r>
              <a:rPr lang="en-US" dirty="0"/>
              <a:t>25-04-2025</a:t>
            </a:r>
          </a:p>
          <a:p>
            <a:r>
              <a:rPr lang="en-US" dirty="0">
                <a:hlinkClick r:id="rId3"/>
              </a:rPr>
              <a:t>fathimanihala200214@gmail.com</a:t>
            </a:r>
            <a:endParaRPr lang="en-US" dirty="0"/>
          </a:p>
          <a:p>
            <a:r>
              <a:rPr lang="en-US"/>
              <a:t>https://techolas.com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{9B241310-0058-4424-91F2-71765EB11F8D}tf78438558_win32</Template>
  <TotalTime>4053</TotalTime>
  <Words>4079</Words>
  <Application>Microsoft Office PowerPoint</Application>
  <PresentationFormat>Widescreen</PresentationFormat>
  <Paragraphs>575</Paragraphs>
  <Slides>54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Amasis MT Pro</vt:lpstr>
      <vt:lpstr>Arial</vt:lpstr>
      <vt:lpstr>Arial Black</vt:lpstr>
      <vt:lpstr>Arial Unicode MS</vt:lpstr>
      <vt:lpstr>Calibri</vt:lpstr>
      <vt:lpstr>Calibri Light</vt:lpstr>
      <vt:lpstr>Consolas</vt:lpstr>
      <vt:lpstr>Sabon Next LT</vt:lpstr>
      <vt:lpstr>Segoe UI</vt:lpstr>
      <vt:lpstr>WordVisi_MSFontService</vt:lpstr>
      <vt:lpstr>WordVisiCarriageReturn_MSFontService</vt:lpstr>
      <vt:lpstr>Custom</vt:lpstr>
      <vt:lpstr>React </vt:lpstr>
      <vt:lpstr>Overview</vt:lpstr>
      <vt:lpstr>Features of React.js</vt:lpstr>
      <vt:lpstr>PowerPoint Presentation</vt:lpstr>
      <vt:lpstr>INSTALLATION</vt:lpstr>
      <vt:lpstr>Folder structure in vite</vt:lpstr>
      <vt:lpstr>Understanding JSX</vt:lpstr>
      <vt:lpstr>Functional vs Class Components</vt:lpstr>
      <vt:lpstr>Example of Class Component with State </vt:lpstr>
      <vt:lpstr>Lifecycle Methods </vt:lpstr>
      <vt:lpstr>1. Mounting Phase</vt:lpstr>
      <vt:lpstr>2. Updating (Component is Changed)</vt:lpstr>
      <vt:lpstr>import { Component } from "react";  class SimpleCounter extends Component{      constructor(props) { // accepts props as a parameter (though we're not using it here, it can be used to pass data into the component).         super(props); //invoke parent component         this.state = {count: 0}; // Initial state with count set to 0     }      increment = () =&gt; {         this.setState({count: this.state.count+1});  // Increment count by 1     }      componentDidUpdate( prevState){ //prevState is the props and state of the component before the update occurred.         if (prevState.count !== this.state.count) {             console.log('Component updated! New count:', this.state.count);         }     }      render(){         return(             &lt;div&gt;                   &lt;h1&gt;Count: {this.state.count}&lt;/h1&gt;                   &lt;button onClick={this.increment}&gt;Increment&lt;/button&gt;             &lt;/div&gt;         )     } }  export default SimpleCounter;</vt:lpstr>
      <vt:lpstr>3. Unmounting (Component is Removed)</vt:lpstr>
      <vt:lpstr>import React, { Component } from 'react';  class Timer extends Component {      state = {         time: 0       };      componentDidMount(){          // Start a timer when the component mounts         this.timer = setInterval(() =&gt; {             this.setState(prevState  =&gt; ({                 time: prevState.time + 1             }))         },1000)     }      componentWillUnmount(){             // Clean up the timer when the component unmounts         clearInterval(this.timer);         console.log('Timer cleaned up!');     }      render(){         return(             &lt;div&gt;             &lt;h1&gt;Time: {this.state.time} seconds&lt;/h1&gt;           &lt;/div&gt;         )     } }  export default Timer; </vt:lpstr>
      <vt:lpstr>functional components </vt:lpstr>
      <vt:lpstr>State in Functional Components</vt:lpstr>
      <vt:lpstr>Props in Functional Components</vt:lpstr>
      <vt:lpstr>Lifecycle Methods in Functional Components</vt:lpstr>
      <vt:lpstr>Mount</vt:lpstr>
      <vt:lpstr>Updating</vt:lpstr>
      <vt:lpstr>  React Router Basics</vt:lpstr>
      <vt:lpstr>Introduction to Hooks</vt:lpstr>
      <vt:lpstr>Rules of Hooks Explained </vt:lpstr>
      <vt:lpstr>🔑 Core Hooks</vt:lpstr>
      <vt:lpstr>PowerPoint Presentation</vt:lpstr>
      <vt:lpstr>eg: import { useeffect, usestate } from 'react’; function Timer() {   const [seconds, setSeconds] = useState(0); useEffect(() =&gt; {     const interval = setInterval(() =&gt; {       setSeconds((s) =&gt; s + 1);     }, 1000);  return () =&gt; clearInterval(interval); }, []);  return &lt;p&gt;Timer: {seconds} seconds&lt;/p&gt;; }</vt:lpstr>
      <vt:lpstr>PowerPoint Presentation</vt:lpstr>
      <vt:lpstr>Common Use Cases </vt:lpstr>
      <vt:lpstr>react-router-dom</vt:lpstr>
      <vt:lpstr>Dynamic Routing (with URL Params)</vt:lpstr>
      <vt:lpstr>Nested Routing</vt:lpstr>
      <vt:lpstr>REACT KEYS</vt:lpstr>
      <vt:lpstr>Why Are Keys Important?</vt:lpstr>
      <vt:lpstr>form validation</vt:lpstr>
      <vt:lpstr> Common Validation Rules </vt:lpstr>
      <vt:lpstr>local storage and session storage </vt:lpstr>
      <vt:lpstr> local storage</vt:lpstr>
      <vt:lpstr>// Set item   localstorage.Setitem('username', 'john’);      // get item   const username = localstorage.Getitem('username’);      // remove item   localstorage.Removeitem('username’);      // clear all   localstorage.Clear();  </vt:lpstr>
      <vt:lpstr> Session Storage </vt:lpstr>
      <vt:lpstr>// Set item   sessionstorage.Setitem('sessionid', '12345’);      // get item   const sessionid = sessionstorage.Getitem('sessionid’);      // remove item   sessionstorage.Removeitem('sessionid’);      // clear all   sessionstorage.Clear(); </vt:lpstr>
      <vt:lpstr>Axios </vt:lpstr>
      <vt:lpstr>What is Axios in React?</vt:lpstr>
      <vt:lpstr>   Why use axios in react?    When making react apps, we often need to:    1. get data from an API (like showing products or users),   2. send data to the server (like when someone fills a form),   3. show loading or error messages while waiting for a response   axios makes all of this easy to write, clean to read, and simple to   manage. </vt:lpstr>
      <vt:lpstr>Features of Axios </vt:lpstr>
      <vt:lpstr>MongoDB</vt:lpstr>
      <vt:lpstr>Mongodb is a nosql, document-oriented database. Instead of storing data in rows and tables (like SQL), mongodb stores data in flexible, json-like documents (called BSON). </vt:lpstr>
      <vt:lpstr>EXAMPLE  {   "_Id": objectid("5f50c31f1c9d440000a1b234"),   // objectid   "name": "alice",                              // string   "age": 25,                                    // number   "isstudent": true,                            // boolean   "courses": ["math", "physics"],               // array   "address": {                                  // object     "city": "kochi",     "pincode": 682001   },   "createdat": new date("2024-04-20t10:00:00z") // date } </vt:lpstr>
      <vt:lpstr>CRUD Operations in MongoDB</vt:lpstr>
      <vt:lpstr>CREATE OPERATION</vt:lpstr>
      <vt:lpstr>Read Operation</vt:lpstr>
      <vt:lpstr>UPDATE OPERATION </vt:lpstr>
      <vt:lpstr>DELETE OPERATION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shahanashaniat8@gmail.com</dc:creator>
  <cp:lastModifiedBy>shahanashaniat8@gmail.com</cp:lastModifiedBy>
  <cp:revision>27</cp:revision>
  <dcterms:created xsi:type="dcterms:W3CDTF">2025-04-25T05:22:08Z</dcterms:created>
  <dcterms:modified xsi:type="dcterms:W3CDTF">2025-09-23T10:14:55Z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